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10515600" y="182880"/>
            <a:ext cx="1371600" cy="914400"/>
          </a:xfrm>
          <a:prstGeom prst="rect">
            <a:avLst/>
          </a:prstGeom>
          <a:noFill/>
        </p:spPr>
        <p:txBody>
          <a:bodyPr wrap="square">
            <a:spAutoFit/>
          </a:bodyPr>
          <a:lstStyle/>
          <a:p>
            <a:pPr algn="r">
              <a:defRPr sz="6000" b="1" i="0">
                <a:solidFill>
                  <a:srgbClr val="E8E8E0"/>
                </a:solidFill>
                <a:latin typeface="Caveat"/>
              </a:defRPr>
            </a:pPr>
            <a:r>
              <a:t>01</a:t>
            </a:r>
          </a:p>
        </p:txBody>
      </p:sp>
      <p:sp>
        <p:nvSpPr>
          <p:cNvPr id="3" name="TextBox 2"/>
          <p:cNvSpPr txBox="1"/>
          <p:nvPr/>
        </p:nvSpPr>
        <p:spPr>
          <a:xfrm>
            <a:off x="457200" y="6400800"/>
            <a:ext cx="5486400" cy="274320"/>
          </a:xfrm>
          <a:prstGeom prst="rect">
            <a:avLst/>
          </a:prstGeom>
          <a:noFill/>
        </p:spPr>
        <p:txBody>
          <a:bodyPr wrap="square">
            <a:spAutoFit/>
          </a:bodyPr>
          <a:lstStyle/>
          <a:p>
            <a:pPr algn="l">
              <a:defRPr sz="800" b="0" i="0">
                <a:solidFill>
                  <a:srgbClr val="9A9A9E"/>
                </a:solidFill>
                <a:latin typeface="Quicksand"/>
              </a:defRPr>
            </a:pPr>
            <a:r>
              <a:t>Hardware III — IAAC MRAC+MAAI 2025/2026</a:t>
            </a:r>
          </a:p>
        </p:txBody>
      </p:sp>
      <p:sp>
        <p:nvSpPr>
          <p:cNvPr id="4" name="TextBox 3"/>
          <p:cNvSpPr txBox="1"/>
          <p:nvPr/>
        </p:nvSpPr>
        <p:spPr>
          <a:xfrm>
            <a:off x="10515600" y="6400800"/>
            <a:ext cx="1371600" cy="274320"/>
          </a:xfrm>
          <a:prstGeom prst="rect">
            <a:avLst/>
          </a:prstGeom>
          <a:noFill/>
        </p:spPr>
        <p:txBody>
          <a:bodyPr wrap="square">
            <a:spAutoFit/>
          </a:bodyPr>
          <a:lstStyle/>
          <a:p>
            <a:pPr algn="r">
              <a:defRPr sz="800" b="0" i="0">
                <a:solidFill>
                  <a:srgbClr val="9A9A9E"/>
                </a:solidFill>
                <a:latin typeface="Quicksand"/>
              </a:defRPr>
            </a:pPr>
            <a:r>
              <a:t>1 / 5</a:t>
            </a:r>
          </a:p>
        </p:txBody>
      </p:sp>
      <p:sp>
        <p:nvSpPr>
          <p:cNvPr id="5" name="TextBox 4"/>
          <p:cNvSpPr txBox="1"/>
          <p:nvPr/>
        </p:nvSpPr>
        <p:spPr>
          <a:xfrm>
            <a:off x="548640" y="365760"/>
            <a:ext cx="9144000" cy="1097280"/>
          </a:xfrm>
          <a:prstGeom prst="rect">
            <a:avLst/>
          </a:prstGeom>
          <a:noFill/>
        </p:spPr>
        <p:txBody>
          <a:bodyPr wrap="square">
            <a:spAutoFit/>
          </a:bodyPr>
          <a:lstStyle/>
          <a:p>
            <a:pPr algn="l">
              <a:defRPr sz="5200" b="1" i="0">
                <a:solidFill>
                  <a:srgbClr val="1A1A1A"/>
                </a:solidFill>
                <a:latin typeface="Caveat"/>
              </a:defRPr>
            </a:pPr>
            <a:r>
              <a:t>Guided Comparative Assembly</a:t>
            </a:r>
          </a:p>
        </p:txBody>
      </p:sp>
      <p:sp>
        <p:nvSpPr>
          <p:cNvPr id="6" name="TextBox 5"/>
          <p:cNvSpPr txBox="1"/>
          <p:nvPr/>
        </p:nvSpPr>
        <p:spPr>
          <a:xfrm>
            <a:off x="548640" y="1371600"/>
            <a:ext cx="9144000" cy="365760"/>
          </a:xfrm>
          <a:prstGeom prst="rect">
            <a:avLst/>
          </a:prstGeom>
          <a:noFill/>
        </p:spPr>
        <p:txBody>
          <a:bodyPr wrap="square">
            <a:spAutoFit/>
          </a:bodyPr>
          <a:lstStyle/>
          <a:p>
            <a:pPr algn="l">
              <a:defRPr sz="1600" b="0" i="0">
                <a:solidFill>
                  <a:srgbClr val="9A9A9E"/>
                </a:solidFill>
                <a:latin typeface="Quicksand"/>
              </a:defRPr>
            </a:pPr>
            <a:r>
              <a:t>An interactive construction kitchen — configure, build, compare</a:t>
            </a:r>
          </a:p>
        </p:txBody>
      </p:sp>
      <p:sp>
        <p:nvSpPr>
          <p:cNvPr id="7" name="Rounded Rectangle 6"/>
          <p:cNvSpPr/>
          <p:nvPr/>
        </p:nvSpPr>
        <p:spPr>
          <a:xfrm rot="21582000">
            <a:off x="548640" y="2011680"/>
            <a:ext cx="7315200" cy="1188720"/>
          </a:xfrm>
          <a:prstGeom prst="roundRect">
            <a:avLst/>
          </a:prstGeom>
          <a:solidFill>
            <a:srgbClr val="E8E8E0"/>
          </a:solidFill>
          <a:ln w="190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74520"/>
            <a:ext cx="2011680" cy="228600"/>
          </a:xfrm>
          <a:prstGeom prst="rect">
            <a:avLst/>
          </a:prstGeom>
          <a:noFill/>
        </p:spPr>
        <p:txBody>
          <a:bodyPr wrap="none">
            <a:spAutoFit/>
          </a:bodyPr>
          <a:lstStyle/>
          <a:p>
            <a:pPr>
              <a:defRPr sz="900" b="1">
                <a:solidFill>
                  <a:srgbClr val="1A1A1A"/>
                </a:solidFill>
                <a:latin typeface="Caveat"/>
              </a:defRPr>
            </a:pPr>
            <a:r>
              <a:t>MISSION</a:t>
            </a:r>
          </a:p>
        </p:txBody>
      </p:sp>
      <p:sp>
        <p:nvSpPr>
          <p:cNvPr id="9" name="TextBox 8"/>
          <p:cNvSpPr txBox="1"/>
          <p:nvPr/>
        </p:nvSpPr>
        <p:spPr>
          <a:xfrm>
            <a:off x="731520" y="2240280"/>
            <a:ext cx="6949440" cy="914400"/>
          </a:xfrm>
          <a:prstGeom prst="rect">
            <a:avLst/>
          </a:prstGeom>
          <a:noFill/>
        </p:spPr>
        <p:txBody>
          <a:bodyPr wrap="square">
            <a:spAutoFit/>
          </a:bodyPr>
          <a:lstStyle/>
          <a:p>
            <a:pPr algn="l">
              <a:defRPr sz="1400" b="0" i="0">
                <a:solidFill>
                  <a:srgbClr val="4A4A4A"/>
                </a:solidFill>
                <a:latin typeface="Quicksand"/>
              </a:defRPr>
            </a:pPr>
            <a:r>
              <a:t>We compare different statistics of the housing construction industry and display them through an interactive exhibit — a hands-on learning experience for children, young architects, and decision makers.</a:t>
            </a:r>
          </a:p>
        </p:txBody>
      </p:sp>
      <p:sp>
        <p:nvSpPr>
          <p:cNvPr id="10" name="Rounded Rectangle 9"/>
          <p:cNvSpPr/>
          <p:nvPr/>
        </p:nvSpPr>
        <p:spPr>
          <a:xfrm rot="21582000">
            <a:off x="548640" y="3474720"/>
            <a:ext cx="3474720" cy="137160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611880"/>
            <a:ext cx="3108960" cy="457200"/>
          </a:xfrm>
          <a:prstGeom prst="rect">
            <a:avLst/>
          </a:prstGeom>
          <a:noFill/>
        </p:spPr>
        <p:txBody>
          <a:bodyPr wrap="square">
            <a:spAutoFit/>
          </a:bodyPr>
          <a:lstStyle/>
          <a:p>
            <a:pPr algn="ctr">
              <a:defRPr sz="2800" b="1" i="0">
                <a:solidFill>
                  <a:srgbClr val="1A1A1A"/>
                </a:solidFill>
                <a:latin typeface="Caveat"/>
              </a:defRPr>
            </a:pPr>
            <a:r>
              <a:t>Masonry</a:t>
            </a:r>
          </a:p>
        </p:txBody>
      </p:sp>
      <p:sp>
        <p:nvSpPr>
          <p:cNvPr id="12" name="TextBox 11"/>
          <p:cNvSpPr txBox="1"/>
          <p:nvPr/>
        </p:nvSpPr>
        <p:spPr>
          <a:xfrm>
            <a:off x="731520" y="4160520"/>
            <a:ext cx="3108960" cy="274320"/>
          </a:xfrm>
          <a:prstGeom prst="rect">
            <a:avLst/>
          </a:prstGeom>
          <a:noFill/>
        </p:spPr>
        <p:txBody>
          <a:bodyPr wrap="square">
            <a:spAutoFit/>
          </a:bodyPr>
          <a:lstStyle/>
          <a:p>
            <a:pPr algn="ctr">
              <a:defRPr sz="1300" b="0" i="0">
                <a:solidFill>
                  <a:srgbClr val="9A9A9E"/>
                </a:solidFill>
                <a:latin typeface="Quicksand"/>
              </a:defRPr>
            </a:pPr>
            <a:r>
              <a:t>brick by brick</a:t>
            </a:r>
          </a:p>
        </p:txBody>
      </p:sp>
      <p:sp>
        <p:nvSpPr>
          <p:cNvPr id="13" name="TextBox 12"/>
          <p:cNvSpPr txBox="1"/>
          <p:nvPr/>
        </p:nvSpPr>
        <p:spPr>
          <a:xfrm>
            <a:off x="731520" y="4480560"/>
            <a:ext cx="3108960" cy="274320"/>
          </a:xfrm>
          <a:prstGeom prst="rect">
            <a:avLst/>
          </a:prstGeom>
          <a:noFill/>
        </p:spPr>
        <p:txBody>
          <a:bodyPr wrap="square">
            <a:spAutoFit/>
          </a:bodyPr>
          <a:lstStyle/>
          <a:p>
            <a:pPr algn="ctr">
              <a:defRPr sz="1200" b="0" i="1">
                <a:solidFill>
                  <a:srgbClr val="9A9A9E"/>
                </a:solidFill>
                <a:latin typeface="Quicksand"/>
              </a:defRPr>
            </a:pPr>
            <a:r>
              <a:t>brick or stone</a:t>
            </a:r>
          </a:p>
        </p:txBody>
      </p:sp>
      <p:sp>
        <p:nvSpPr>
          <p:cNvPr id="14" name="Rounded Rectangle 13"/>
          <p:cNvSpPr/>
          <p:nvPr/>
        </p:nvSpPr>
        <p:spPr>
          <a:xfrm rot="21582000">
            <a:off x="4297679" y="3474720"/>
            <a:ext cx="3474720" cy="137160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59" y="3611880"/>
            <a:ext cx="3108960" cy="457200"/>
          </a:xfrm>
          <a:prstGeom prst="rect">
            <a:avLst/>
          </a:prstGeom>
          <a:noFill/>
        </p:spPr>
        <p:txBody>
          <a:bodyPr wrap="square">
            <a:spAutoFit/>
          </a:bodyPr>
          <a:lstStyle/>
          <a:p>
            <a:pPr algn="ctr">
              <a:defRPr sz="2800" b="1" i="0">
                <a:solidFill>
                  <a:srgbClr val="1A1A1A"/>
                </a:solidFill>
                <a:latin typeface="Caveat"/>
              </a:defRPr>
            </a:pPr>
            <a:r>
              <a:t>3D Printed</a:t>
            </a:r>
          </a:p>
        </p:txBody>
      </p:sp>
      <p:sp>
        <p:nvSpPr>
          <p:cNvPr id="16" name="TextBox 15"/>
          <p:cNvSpPr txBox="1"/>
          <p:nvPr/>
        </p:nvSpPr>
        <p:spPr>
          <a:xfrm>
            <a:off x="4480559" y="4160520"/>
            <a:ext cx="3108960" cy="274320"/>
          </a:xfrm>
          <a:prstGeom prst="rect">
            <a:avLst/>
          </a:prstGeom>
          <a:noFill/>
        </p:spPr>
        <p:txBody>
          <a:bodyPr wrap="square">
            <a:spAutoFit/>
          </a:bodyPr>
          <a:lstStyle/>
          <a:p>
            <a:pPr algn="ctr">
              <a:defRPr sz="1300" b="0" i="0">
                <a:solidFill>
                  <a:srgbClr val="9A9A9E"/>
                </a:solidFill>
                <a:latin typeface="Quicksand"/>
              </a:defRPr>
            </a:pPr>
            <a:r>
              <a:t>layer by layer</a:t>
            </a:r>
          </a:p>
        </p:txBody>
      </p:sp>
      <p:sp>
        <p:nvSpPr>
          <p:cNvPr id="17" name="TextBox 16"/>
          <p:cNvSpPr txBox="1"/>
          <p:nvPr/>
        </p:nvSpPr>
        <p:spPr>
          <a:xfrm>
            <a:off x="4480559" y="4480560"/>
            <a:ext cx="3108960" cy="274320"/>
          </a:xfrm>
          <a:prstGeom prst="rect">
            <a:avLst/>
          </a:prstGeom>
          <a:noFill/>
        </p:spPr>
        <p:txBody>
          <a:bodyPr wrap="square">
            <a:spAutoFit/>
          </a:bodyPr>
          <a:lstStyle/>
          <a:p>
            <a:pPr algn="ctr">
              <a:defRPr sz="1200" b="0" i="1">
                <a:solidFill>
                  <a:srgbClr val="9A9A9E"/>
                </a:solidFill>
                <a:latin typeface="Quicksand"/>
              </a:defRPr>
            </a:pPr>
            <a:r>
              <a:t>earth or concrete</a:t>
            </a:r>
          </a:p>
        </p:txBody>
      </p:sp>
      <p:sp>
        <p:nvSpPr>
          <p:cNvPr id="18" name="Rounded Rectangle 17"/>
          <p:cNvSpPr/>
          <p:nvPr/>
        </p:nvSpPr>
        <p:spPr>
          <a:xfrm rot="21582000">
            <a:off x="8046719" y="3474720"/>
            <a:ext cx="3474720" cy="137160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3611880"/>
            <a:ext cx="3108960" cy="457200"/>
          </a:xfrm>
          <a:prstGeom prst="rect">
            <a:avLst/>
          </a:prstGeom>
          <a:noFill/>
        </p:spPr>
        <p:txBody>
          <a:bodyPr wrap="square">
            <a:spAutoFit/>
          </a:bodyPr>
          <a:lstStyle/>
          <a:p>
            <a:pPr algn="ctr">
              <a:defRPr sz="2800" b="1" i="0">
                <a:solidFill>
                  <a:srgbClr val="1A1A1A"/>
                </a:solidFill>
                <a:latin typeface="Caveat"/>
              </a:defRPr>
            </a:pPr>
            <a:r>
              <a:t>Prefab</a:t>
            </a:r>
          </a:p>
        </p:txBody>
      </p:sp>
      <p:sp>
        <p:nvSpPr>
          <p:cNvPr id="20" name="TextBox 19"/>
          <p:cNvSpPr txBox="1"/>
          <p:nvPr/>
        </p:nvSpPr>
        <p:spPr>
          <a:xfrm>
            <a:off x="8229599" y="4160520"/>
            <a:ext cx="3108960" cy="274320"/>
          </a:xfrm>
          <a:prstGeom prst="rect">
            <a:avLst/>
          </a:prstGeom>
          <a:noFill/>
        </p:spPr>
        <p:txBody>
          <a:bodyPr wrap="square">
            <a:spAutoFit/>
          </a:bodyPr>
          <a:lstStyle/>
          <a:p>
            <a:pPr algn="ctr">
              <a:defRPr sz="1300" b="0" i="0">
                <a:solidFill>
                  <a:srgbClr val="9A9A9E"/>
                </a:solidFill>
                <a:latin typeface="Quicksand"/>
              </a:defRPr>
            </a:pPr>
            <a:r>
              <a:t>module by module</a:t>
            </a:r>
          </a:p>
        </p:txBody>
      </p:sp>
      <p:sp>
        <p:nvSpPr>
          <p:cNvPr id="21" name="TextBox 20"/>
          <p:cNvSpPr txBox="1"/>
          <p:nvPr/>
        </p:nvSpPr>
        <p:spPr>
          <a:xfrm>
            <a:off x="8229599" y="4480560"/>
            <a:ext cx="3108960" cy="274320"/>
          </a:xfrm>
          <a:prstGeom prst="rect">
            <a:avLst/>
          </a:prstGeom>
          <a:noFill/>
        </p:spPr>
        <p:txBody>
          <a:bodyPr wrap="square">
            <a:spAutoFit/>
          </a:bodyPr>
          <a:lstStyle/>
          <a:p>
            <a:pPr algn="ctr">
              <a:defRPr sz="1200" b="0" i="1">
                <a:solidFill>
                  <a:srgbClr val="9A9A9E"/>
                </a:solidFill>
                <a:latin typeface="Quicksand"/>
              </a:defRPr>
            </a:pPr>
            <a:r>
              <a:t>factory grid</a:t>
            </a:r>
          </a:p>
        </p:txBody>
      </p:sp>
      <p:sp>
        <p:nvSpPr>
          <p:cNvPr id="22" name="Rounded Rectangle 21"/>
          <p:cNvSpPr/>
          <p:nvPr/>
        </p:nvSpPr>
        <p:spPr>
          <a:xfrm rot="21582000">
            <a:off x="548640" y="5120640"/>
            <a:ext cx="7315200" cy="731520"/>
          </a:xfrm>
          <a:prstGeom prst="roundRect">
            <a:avLst/>
          </a:prstGeom>
          <a:noFill/>
          <a:ln w="12700">
            <a:solidFill>
              <a:srgbClr val="4A4A4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83479"/>
            <a:ext cx="2011680" cy="228600"/>
          </a:xfrm>
          <a:prstGeom prst="rect">
            <a:avLst/>
          </a:prstGeom>
          <a:noFill/>
        </p:spPr>
        <p:txBody>
          <a:bodyPr wrap="none">
            <a:spAutoFit/>
          </a:bodyPr>
          <a:lstStyle/>
          <a:p>
            <a:pPr>
              <a:defRPr sz="900" b="1">
                <a:solidFill>
                  <a:srgbClr val="1A1A1A"/>
                </a:solidFill>
                <a:latin typeface="Caveat"/>
              </a:defRPr>
            </a:pPr>
            <a:r>
              <a:t>THE POINT</a:t>
            </a:r>
          </a:p>
        </p:txBody>
      </p:sp>
      <p:sp>
        <p:nvSpPr>
          <p:cNvPr id="24" name="TextBox 23"/>
          <p:cNvSpPr txBox="1"/>
          <p:nvPr/>
        </p:nvSpPr>
        <p:spPr>
          <a:xfrm>
            <a:off x="731520" y="5257800"/>
            <a:ext cx="6949440" cy="457200"/>
          </a:xfrm>
          <a:prstGeom prst="rect">
            <a:avLst/>
          </a:prstGeom>
          <a:noFill/>
        </p:spPr>
        <p:txBody>
          <a:bodyPr wrap="square">
            <a:spAutoFit/>
          </a:bodyPr>
          <a:lstStyle/>
          <a:p>
            <a:pPr algn="l">
              <a:defRPr sz="1200" b="0" i="0">
                <a:solidFill>
                  <a:srgbClr val="4A4A4A"/>
                </a:solidFill>
                <a:latin typeface="Quicksand"/>
              </a:defRPr>
            </a:pPr>
            <a:r>
              <a:t>Instead of reading abstract statistics, you configure your own building, watch it get constructed phase by phase, and see the real environmental and economic cost. Then build another one and compare. The data becomes physical.</a:t>
            </a:r>
          </a:p>
        </p:txBody>
      </p:sp>
      <p:sp>
        <p:nvSpPr>
          <p:cNvPr id="25" name="TextBox 24"/>
          <p:cNvSpPr txBox="1"/>
          <p:nvPr/>
        </p:nvSpPr>
        <p:spPr>
          <a:xfrm>
            <a:off x="548640" y="5989320"/>
            <a:ext cx="7315200" cy="274320"/>
          </a:xfrm>
          <a:prstGeom prst="rect">
            <a:avLst/>
          </a:prstGeom>
          <a:noFill/>
        </p:spPr>
        <p:txBody>
          <a:bodyPr wrap="square">
            <a:spAutoFit/>
          </a:bodyPr>
          <a:lstStyle/>
          <a:p>
            <a:pPr algn="l">
              <a:defRPr sz="1300" b="0" i="0">
                <a:solidFill>
                  <a:srgbClr val="9A9A9E"/>
                </a:solidFill>
                <a:latin typeface="Caveat"/>
              </a:defRPr>
            </a:pPr>
            <a:r>
              <a:t>Team: Leo · Elais · Rafik · Seid · Onur · Nithik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10515600" y="182880"/>
            <a:ext cx="1371600" cy="914400"/>
          </a:xfrm>
          <a:prstGeom prst="rect">
            <a:avLst/>
          </a:prstGeom>
          <a:noFill/>
        </p:spPr>
        <p:txBody>
          <a:bodyPr wrap="square">
            <a:spAutoFit/>
          </a:bodyPr>
          <a:lstStyle/>
          <a:p>
            <a:pPr algn="r">
              <a:defRPr sz="6000" b="1" i="0">
                <a:solidFill>
                  <a:srgbClr val="E8E8E0"/>
                </a:solidFill>
                <a:latin typeface="Caveat"/>
              </a:defRPr>
            </a:pPr>
            <a:r>
              <a:t>02</a:t>
            </a:r>
          </a:p>
        </p:txBody>
      </p:sp>
      <p:sp>
        <p:nvSpPr>
          <p:cNvPr id="3" name="TextBox 2"/>
          <p:cNvSpPr txBox="1"/>
          <p:nvPr/>
        </p:nvSpPr>
        <p:spPr>
          <a:xfrm>
            <a:off x="457200" y="6400800"/>
            <a:ext cx="5486400" cy="274320"/>
          </a:xfrm>
          <a:prstGeom prst="rect">
            <a:avLst/>
          </a:prstGeom>
          <a:noFill/>
        </p:spPr>
        <p:txBody>
          <a:bodyPr wrap="square">
            <a:spAutoFit/>
          </a:bodyPr>
          <a:lstStyle/>
          <a:p>
            <a:pPr algn="l">
              <a:defRPr sz="800" b="0" i="0">
                <a:solidFill>
                  <a:srgbClr val="9A9A9E"/>
                </a:solidFill>
                <a:latin typeface="Quicksand"/>
              </a:defRPr>
            </a:pPr>
            <a:r>
              <a:t>Hardware III — IAAC MRAC+MAAI 2025/2026</a:t>
            </a:r>
          </a:p>
        </p:txBody>
      </p:sp>
      <p:sp>
        <p:nvSpPr>
          <p:cNvPr id="4" name="TextBox 3"/>
          <p:cNvSpPr txBox="1"/>
          <p:nvPr/>
        </p:nvSpPr>
        <p:spPr>
          <a:xfrm>
            <a:off x="10515600" y="6400800"/>
            <a:ext cx="1371600" cy="274320"/>
          </a:xfrm>
          <a:prstGeom prst="rect">
            <a:avLst/>
          </a:prstGeom>
          <a:noFill/>
        </p:spPr>
        <p:txBody>
          <a:bodyPr wrap="square">
            <a:spAutoFit/>
          </a:bodyPr>
          <a:lstStyle/>
          <a:p>
            <a:pPr algn="r">
              <a:defRPr sz="800" b="0" i="0">
                <a:solidFill>
                  <a:srgbClr val="9A9A9E"/>
                </a:solidFill>
                <a:latin typeface="Quicksand"/>
              </a:defRPr>
            </a:pPr>
            <a:r>
              <a:t>2 / 5</a:t>
            </a:r>
          </a:p>
        </p:txBody>
      </p:sp>
      <p:sp>
        <p:nvSpPr>
          <p:cNvPr id="5" name="TextBox 4"/>
          <p:cNvSpPr txBox="1"/>
          <p:nvPr/>
        </p:nvSpPr>
        <p:spPr>
          <a:xfrm>
            <a:off x="548640" y="274320"/>
            <a:ext cx="9144000" cy="822960"/>
          </a:xfrm>
          <a:prstGeom prst="rect">
            <a:avLst/>
          </a:prstGeom>
          <a:noFill/>
        </p:spPr>
        <p:txBody>
          <a:bodyPr wrap="square">
            <a:spAutoFit/>
          </a:bodyPr>
          <a:lstStyle/>
          <a:p>
            <a:pPr algn="l">
              <a:defRPr sz="4400" b="1" i="0">
                <a:solidFill>
                  <a:srgbClr val="1A1A1A"/>
                </a:solidFill>
                <a:latin typeface="Caveat"/>
              </a:defRPr>
            </a:pPr>
            <a:r>
              <a:t>User Interaction Flow</a:t>
            </a:r>
          </a:p>
        </p:txBody>
      </p:sp>
      <p:sp>
        <p:nvSpPr>
          <p:cNvPr id="6" name="TextBox 5"/>
          <p:cNvSpPr txBox="1"/>
          <p:nvPr/>
        </p:nvSpPr>
        <p:spPr>
          <a:xfrm>
            <a:off x="548640" y="1005840"/>
            <a:ext cx="9144000" cy="320040"/>
          </a:xfrm>
          <a:prstGeom prst="rect">
            <a:avLst/>
          </a:prstGeom>
          <a:noFill/>
        </p:spPr>
        <p:txBody>
          <a:bodyPr wrap="square">
            <a:spAutoFit/>
          </a:bodyPr>
          <a:lstStyle/>
          <a:p>
            <a:pPr algn="l">
              <a:defRPr sz="1300" b="0" i="1">
                <a:solidFill>
                  <a:srgbClr val="CC3333"/>
                </a:solidFill>
                <a:latin typeface="Caveat"/>
              </a:defRPr>
            </a:pPr>
            <a:r>
              <a:t>The user configures everything with physical objects — no screens, no buttons</a:t>
            </a:r>
          </a:p>
        </p:txBody>
      </p:sp>
      <p:sp>
        <p:nvSpPr>
          <p:cNvPr id="7" name="Rounded Rectangle 6"/>
          <p:cNvSpPr/>
          <p:nvPr/>
        </p:nvSpPr>
        <p:spPr>
          <a:xfrm rot="21582000">
            <a:off x="365760" y="1554480"/>
            <a:ext cx="1737360" cy="256032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45920"/>
            <a:ext cx="457200" cy="457200"/>
          </a:xfrm>
          <a:prstGeom prst="rect">
            <a:avLst/>
          </a:prstGeom>
          <a:noFill/>
        </p:spPr>
        <p:txBody>
          <a:bodyPr wrap="square">
            <a:spAutoFit/>
          </a:bodyPr>
          <a:lstStyle/>
          <a:p>
            <a:pPr algn="l">
              <a:defRPr sz="3600" b="1" i="0">
                <a:solidFill>
                  <a:srgbClr val="1A1A1A"/>
                </a:solidFill>
                <a:latin typeface="Caveat"/>
              </a:defRPr>
            </a:pPr>
            <a:r>
              <a:t>1</a:t>
            </a:r>
          </a:p>
        </p:txBody>
      </p:sp>
      <p:sp>
        <p:nvSpPr>
          <p:cNvPr id="9" name="TextBox 8"/>
          <p:cNvSpPr txBox="1"/>
          <p:nvPr/>
        </p:nvSpPr>
        <p:spPr>
          <a:xfrm>
            <a:off x="502920" y="2148840"/>
            <a:ext cx="1463040" cy="640080"/>
          </a:xfrm>
          <a:prstGeom prst="rect">
            <a:avLst/>
          </a:prstGeom>
          <a:noFill/>
        </p:spPr>
        <p:txBody>
          <a:bodyPr wrap="square">
            <a:spAutoFit/>
          </a:bodyPr>
          <a:lstStyle/>
          <a:p>
            <a:pPr algn="l">
              <a:defRPr sz="1400" b="1" i="0">
                <a:solidFill>
                  <a:srgbClr val="1A1A1A"/>
                </a:solidFill>
                <a:latin typeface="Caveat"/>
              </a:defRPr>
            </a:pPr>
            <a:r>
              <a:t>Place model on RFID pedestal</a:t>
            </a:r>
          </a:p>
        </p:txBody>
      </p:sp>
      <p:sp>
        <p:nvSpPr>
          <p:cNvPr id="10" name="TextBox 9"/>
          <p:cNvSpPr txBox="1"/>
          <p:nvPr/>
        </p:nvSpPr>
        <p:spPr>
          <a:xfrm>
            <a:off x="502920" y="2834640"/>
            <a:ext cx="1463040" cy="914400"/>
          </a:xfrm>
          <a:prstGeom prst="rect">
            <a:avLst/>
          </a:prstGeom>
          <a:noFill/>
        </p:spPr>
        <p:txBody>
          <a:bodyPr wrap="square">
            <a:spAutoFit/>
          </a:bodyPr>
          <a:lstStyle/>
          <a:p>
            <a:pPr algn="l">
              <a:defRPr sz="1000" b="0" i="0">
                <a:solidFill>
                  <a:srgbClr val="4A4A4A"/>
                </a:solidFill>
                <a:latin typeface="Quicksand"/>
              </a:defRPr>
            </a:pPr>
            <a:r>
              <a:t>Select construction method (masonry, 3DP, prefab)</a:t>
            </a:r>
          </a:p>
        </p:txBody>
      </p:sp>
      <p:sp>
        <p:nvSpPr>
          <p:cNvPr id="11" name="TextBox 10"/>
          <p:cNvSpPr txBox="1"/>
          <p:nvPr/>
        </p:nvSpPr>
        <p:spPr>
          <a:xfrm>
            <a:off x="2148840" y="2560320"/>
            <a:ext cx="182880" cy="365760"/>
          </a:xfrm>
          <a:prstGeom prst="rect">
            <a:avLst/>
          </a:prstGeom>
          <a:noFill/>
        </p:spPr>
        <p:txBody>
          <a:bodyPr wrap="square">
            <a:spAutoFit/>
          </a:bodyPr>
          <a:lstStyle/>
          <a:p>
            <a:pPr algn="l">
              <a:defRPr sz="2200" b="0" i="0">
                <a:solidFill>
                  <a:srgbClr val="9A9A9E"/>
                </a:solidFill>
                <a:latin typeface="Caveat"/>
              </a:defRPr>
            </a:pPr>
            <a:r>
              <a:t>→</a:t>
            </a:r>
          </a:p>
        </p:txBody>
      </p:sp>
      <p:sp>
        <p:nvSpPr>
          <p:cNvPr id="12" name="Rounded Rectangle 11"/>
          <p:cNvSpPr/>
          <p:nvPr/>
        </p:nvSpPr>
        <p:spPr>
          <a:xfrm rot="21582000">
            <a:off x="2286000" y="1554480"/>
            <a:ext cx="1737360" cy="256032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77440" y="1645920"/>
            <a:ext cx="457200" cy="457200"/>
          </a:xfrm>
          <a:prstGeom prst="rect">
            <a:avLst/>
          </a:prstGeom>
          <a:noFill/>
        </p:spPr>
        <p:txBody>
          <a:bodyPr wrap="square">
            <a:spAutoFit/>
          </a:bodyPr>
          <a:lstStyle/>
          <a:p>
            <a:pPr algn="l">
              <a:defRPr sz="3600" b="1" i="0">
                <a:solidFill>
                  <a:srgbClr val="1A1A1A"/>
                </a:solidFill>
                <a:latin typeface="Caveat"/>
              </a:defRPr>
            </a:pPr>
            <a:r>
              <a:t>2</a:t>
            </a:r>
          </a:p>
        </p:txBody>
      </p:sp>
      <p:sp>
        <p:nvSpPr>
          <p:cNvPr id="14" name="TextBox 13"/>
          <p:cNvSpPr txBox="1"/>
          <p:nvPr/>
        </p:nvSpPr>
        <p:spPr>
          <a:xfrm>
            <a:off x="2423160" y="2148840"/>
            <a:ext cx="1463040" cy="640080"/>
          </a:xfrm>
          <a:prstGeom prst="rect">
            <a:avLst/>
          </a:prstGeom>
          <a:noFill/>
        </p:spPr>
        <p:txBody>
          <a:bodyPr wrap="square">
            <a:spAutoFit/>
          </a:bodyPr>
          <a:lstStyle/>
          <a:p>
            <a:pPr algn="l">
              <a:defRPr sz="1400" b="1" i="0">
                <a:solidFill>
                  <a:srgbClr val="1A1A1A"/>
                </a:solidFill>
                <a:latin typeface="Caveat"/>
              </a:defRPr>
            </a:pPr>
            <a:r>
              <a:t>Arrange 10 pucks on the table</a:t>
            </a:r>
          </a:p>
        </p:txBody>
      </p:sp>
      <p:sp>
        <p:nvSpPr>
          <p:cNvPr id="15" name="TextBox 14"/>
          <p:cNvSpPr txBox="1"/>
          <p:nvPr/>
        </p:nvSpPr>
        <p:spPr>
          <a:xfrm>
            <a:off x="2423160" y="2834640"/>
            <a:ext cx="1463040" cy="914400"/>
          </a:xfrm>
          <a:prstGeom prst="rect">
            <a:avLst/>
          </a:prstGeom>
          <a:noFill/>
        </p:spPr>
        <p:txBody>
          <a:bodyPr wrap="square">
            <a:spAutoFit/>
          </a:bodyPr>
          <a:lstStyle/>
          <a:p>
            <a:pPr algn="l">
              <a:defRPr sz="1000" b="0" i="0">
                <a:solidFill>
                  <a:srgbClr val="4A4A4A"/>
                </a:solidFill>
                <a:latin typeface="Quicksand"/>
              </a:defRPr>
            </a:pPr>
            <a:r>
              <a:t>Define building footprint camera tracks distances</a:t>
            </a:r>
          </a:p>
        </p:txBody>
      </p:sp>
      <p:sp>
        <p:nvSpPr>
          <p:cNvPr id="16" name="TextBox 15"/>
          <p:cNvSpPr txBox="1"/>
          <p:nvPr/>
        </p:nvSpPr>
        <p:spPr>
          <a:xfrm>
            <a:off x="4069080" y="2560320"/>
            <a:ext cx="182880" cy="365760"/>
          </a:xfrm>
          <a:prstGeom prst="rect">
            <a:avLst/>
          </a:prstGeom>
          <a:noFill/>
        </p:spPr>
        <p:txBody>
          <a:bodyPr wrap="square">
            <a:spAutoFit/>
          </a:bodyPr>
          <a:lstStyle/>
          <a:p>
            <a:pPr algn="l">
              <a:defRPr sz="2200" b="0" i="0">
                <a:solidFill>
                  <a:srgbClr val="9A9A9E"/>
                </a:solidFill>
                <a:latin typeface="Caveat"/>
              </a:defRPr>
            </a:pPr>
            <a:r>
              <a:t>→</a:t>
            </a:r>
          </a:p>
        </p:txBody>
      </p:sp>
      <p:sp>
        <p:nvSpPr>
          <p:cNvPr id="17" name="Rounded Rectangle 16"/>
          <p:cNvSpPr/>
          <p:nvPr/>
        </p:nvSpPr>
        <p:spPr>
          <a:xfrm rot="21582000">
            <a:off x="4206240" y="1554480"/>
            <a:ext cx="1737360" cy="256032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1645920"/>
            <a:ext cx="457200" cy="457200"/>
          </a:xfrm>
          <a:prstGeom prst="rect">
            <a:avLst/>
          </a:prstGeom>
          <a:noFill/>
        </p:spPr>
        <p:txBody>
          <a:bodyPr wrap="square">
            <a:spAutoFit/>
          </a:bodyPr>
          <a:lstStyle/>
          <a:p>
            <a:pPr algn="l">
              <a:defRPr sz="3600" b="1" i="0">
                <a:solidFill>
                  <a:srgbClr val="1A1A1A"/>
                </a:solidFill>
                <a:latin typeface="Caveat"/>
              </a:defRPr>
            </a:pPr>
            <a:r>
              <a:t>3</a:t>
            </a:r>
          </a:p>
        </p:txBody>
      </p:sp>
      <p:sp>
        <p:nvSpPr>
          <p:cNvPr id="19" name="TextBox 18"/>
          <p:cNvSpPr txBox="1"/>
          <p:nvPr/>
        </p:nvSpPr>
        <p:spPr>
          <a:xfrm>
            <a:off x="4343400" y="2148840"/>
            <a:ext cx="1463040" cy="640080"/>
          </a:xfrm>
          <a:prstGeom prst="rect">
            <a:avLst/>
          </a:prstGeom>
          <a:noFill/>
        </p:spPr>
        <p:txBody>
          <a:bodyPr wrap="square">
            <a:spAutoFit/>
          </a:bodyPr>
          <a:lstStyle/>
          <a:p>
            <a:pPr algn="l">
              <a:defRPr sz="1400" b="1" i="0">
                <a:solidFill>
                  <a:srgbClr val="1A1A1A"/>
                </a:solidFill>
                <a:latin typeface="Caveat"/>
              </a:defRPr>
            </a:pPr>
            <a:r>
              <a:t>Set height + materials</a:t>
            </a:r>
          </a:p>
        </p:txBody>
      </p:sp>
      <p:sp>
        <p:nvSpPr>
          <p:cNvPr id="20" name="TextBox 19"/>
          <p:cNvSpPr txBox="1"/>
          <p:nvPr/>
        </p:nvSpPr>
        <p:spPr>
          <a:xfrm>
            <a:off x="4343400" y="2834640"/>
            <a:ext cx="1463040" cy="914400"/>
          </a:xfrm>
          <a:prstGeom prst="rect">
            <a:avLst/>
          </a:prstGeom>
          <a:noFill/>
        </p:spPr>
        <p:txBody>
          <a:bodyPr wrap="square">
            <a:spAutoFit/>
          </a:bodyPr>
          <a:lstStyle/>
          <a:p>
            <a:pPr algn="l">
              <a:defRPr sz="1000" b="0" i="0">
                <a:solidFill>
                  <a:srgbClr val="4A4A4A"/>
                </a:solidFill>
                <a:latin typeface="Quicksand"/>
              </a:defRPr>
            </a:pPr>
            <a:r>
              <a:t>Floor count marker + material controller ArUco</a:t>
            </a:r>
          </a:p>
        </p:txBody>
      </p:sp>
      <p:sp>
        <p:nvSpPr>
          <p:cNvPr id="21" name="TextBox 20"/>
          <p:cNvSpPr txBox="1"/>
          <p:nvPr/>
        </p:nvSpPr>
        <p:spPr>
          <a:xfrm>
            <a:off x="5989320" y="2560320"/>
            <a:ext cx="182880" cy="365760"/>
          </a:xfrm>
          <a:prstGeom prst="rect">
            <a:avLst/>
          </a:prstGeom>
          <a:noFill/>
        </p:spPr>
        <p:txBody>
          <a:bodyPr wrap="square">
            <a:spAutoFit/>
          </a:bodyPr>
          <a:lstStyle/>
          <a:p>
            <a:pPr algn="l">
              <a:defRPr sz="2200" b="0" i="0">
                <a:solidFill>
                  <a:srgbClr val="9A9A9E"/>
                </a:solidFill>
                <a:latin typeface="Caveat"/>
              </a:defRPr>
            </a:pPr>
            <a:r>
              <a:t>→</a:t>
            </a:r>
          </a:p>
        </p:txBody>
      </p:sp>
      <p:sp>
        <p:nvSpPr>
          <p:cNvPr id="22" name="Rounded Rectangle 21"/>
          <p:cNvSpPr/>
          <p:nvPr/>
        </p:nvSpPr>
        <p:spPr>
          <a:xfrm rot="21582000">
            <a:off x="6126480" y="1554480"/>
            <a:ext cx="1737360" cy="256032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1645920"/>
            <a:ext cx="457200" cy="457200"/>
          </a:xfrm>
          <a:prstGeom prst="rect">
            <a:avLst/>
          </a:prstGeom>
          <a:noFill/>
        </p:spPr>
        <p:txBody>
          <a:bodyPr wrap="square">
            <a:spAutoFit/>
          </a:bodyPr>
          <a:lstStyle/>
          <a:p>
            <a:pPr algn="l">
              <a:defRPr sz="3600" b="1" i="0">
                <a:solidFill>
                  <a:srgbClr val="1A1A1A"/>
                </a:solidFill>
                <a:latin typeface="Caveat"/>
              </a:defRPr>
            </a:pPr>
            <a:r>
              <a:t>4</a:t>
            </a:r>
          </a:p>
        </p:txBody>
      </p:sp>
      <p:sp>
        <p:nvSpPr>
          <p:cNvPr id="24" name="TextBox 23"/>
          <p:cNvSpPr txBox="1"/>
          <p:nvPr/>
        </p:nvSpPr>
        <p:spPr>
          <a:xfrm>
            <a:off x="6263640" y="2148840"/>
            <a:ext cx="1463040" cy="640080"/>
          </a:xfrm>
          <a:prstGeom prst="rect">
            <a:avLst/>
          </a:prstGeom>
          <a:noFill/>
        </p:spPr>
        <p:txBody>
          <a:bodyPr wrap="square">
            <a:spAutoFit/>
          </a:bodyPr>
          <a:lstStyle/>
          <a:p>
            <a:pPr algn="l">
              <a:defRPr sz="1400" b="1" i="0">
                <a:solidFill>
                  <a:srgbClr val="1A1A1A"/>
                </a:solidFill>
                <a:latin typeface="Caveat"/>
              </a:defRPr>
            </a:pPr>
            <a:r>
              <a:t>System validates feasibility</a:t>
            </a:r>
          </a:p>
        </p:txBody>
      </p:sp>
      <p:sp>
        <p:nvSpPr>
          <p:cNvPr id="25" name="TextBox 24"/>
          <p:cNvSpPr txBox="1"/>
          <p:nvPr/>
        </p:nvSpPr>
        <p:spPr>
          <a:xfrm>
            <a:off x="6263640" y="2834640"/>
            <a:ext cx="1463040" cy="914400"/>
          </a:xfrm>
          <a:prstGeom prst="rect">
            <a:avLst/>
          </a:prstGeom>
          <a:noFill/>
        </p:spPr>
        <p:txBody>
          <a:bodyPr wrap="square">
            <a:spAutoFit/>
          </a:bodyPr>
          <a:lstStyle/>
          <a:p>
            <a:pPr algn="l">
              <a:defRPr sz="1000" b="0" i="0">
                <a:solidFill>
                  <a:srgbClr val="4A4A4A"/>
                </a:solidFill>
                <a:latin typeface="Quicksand"/>
              </a:defRPr>
            </a:pPr>
            <a:r>
              <a:t>Constraints enforced (e.g., earth 3DP max 1 story)</a:t>
            </a:r>
          </a:p>
        </p:txBody>
      </p:sp>
      <p:sp>
        <p:nvSpPr>
          <p:cNvPr id="26" name="TextBox 25"/>
          <p:cNvSpPr txBox="1"/>
          <p:nvPr/>
        </p:nvSpPr>
        <p:spPr>
          <a:xfrm>
            <a:off x="7909560" y="2560320"/>
            <a:ext cx="182880" cy="365760"/>
          </a:xfrm>
          <a:prstGeom prst="rect">
            <a:avLst/>
          </a:prstGeom>
          <a:noFill/>
        </p:spPr>
        <p:txBody>
          <a:bodyPr wrap="square">
            <a:spAutoFit/>
          </a:bodyPr>
          <a:lstStyle/>
          <a:p>
            <a:pPr algn="l">
              <a:defRPr sz="2200" b="0" i="0">
                <a:solidFill>
                  <a:srgbClr val="9A9A9E"/>
                </a:solidFill>
                <a:latin typeface="Caveat"/>
              </a:defRPr>
            </a:pPr>
            <a:r>
              <a:t>→</a:t>
            </a:r>
          </a:p>
        </p:txBody>
      </p:sp>
      <p:sp>
        <p:nvSpPr>
          <p:cNvPr id="27" name="Rounded Rectangle 26"/>
          <p:cNvSpPr/>
          <p:nvPr/>
        </p:nvSpPr>
        <p:spPr>
          <a:xfrm rot="21582000">
            <a:off x="8046720" y="1554480"/>
            <a:ext cx="1737360" cy="256032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60" y="1645920"/>
            <a:ext cx="457200" cy="457200"/>
          </a:xfrm>
          <a:prstGeom prst="rect">
            <a:avLst/>
          </a:prstGeom>
          <a:noFill/>
        </p:spPr>
        <p:txBody>
          <a:bodyPr wrap="square">
            <a:spAutoFit/>
          </a:bodyPr>
          <a:lstStyle/>
          <a:p>
            <a:pPr algn="l">
              <a:defRPr sz="3600" b="1" i="0">
                <a:solidFill>
                  <a:srgbClr val="1A1A1A"/>
                </a:solidFill>
                <a:latin typeface="Caveat"/>
              </a:defRPr>
            </a:pPr>
            <a:r>
              <a:t>5</a:t>
            </a:r>
          </a:p>
        </p:txBody>
      </p:sp>
      <p:sp>
        <p:nvSpPr>
          <p:cNvPr id="29" name="TextBox 28"/>
          <p:cNvSpPr txBox="1"/>
          <p:nvPr/>
        </p:nvSpPr>
        <p:spPr>
          <a:xfrm>
            <a:off x="8183880" y="2148840"/>
            <a:ext cx="1463040" cy="640080"/>
          </a:xfrm>
          <a:prstGeom prst="rect">
            <a:avLst/>
          </a:prstGeom>
          <a:noFill/>
        </p:spPr>
        <p:txBody>
          <a:bodyPr wrap="square">
            <a:spAutoFit/>
          </a:bodyPr>
          <a:lstStyle/>
          <a:p>
            <a:pPr algn="l">
              <a:defRPr sz="1400" b="1" i="0">
                <a:solidFill>
                  <a:srgbClr val="1A1A1A"/>
                </a:solidFill>
                <a:latin typeface="Caveat"/>
              </a:defRPr>
            </a:pPr>
            <a:r>
              <a:t>5 building phases with animations</a:t>
            </a:r>
          </a:p>
        </p:txBody>
      </p:sp>
      <p:sp>
        <p:nvSpPr>
          <p:cNvPr id="30" name="TextBox 29"/>
          <p:cNvSpPr txBox="1"/>
          <p:nvPr/>
        </p:nvSpPr>
        <p:spPr>
          <a:xfrm>
            <a:off x="8183880" y="2834640"/>
            <a:ext cx="1463040" cy="914400"/>
          </a:xfrm>
          <a:prstGeom prst="rect">
            <a:avLst/>
          </a:prstGeom>
          <a:noFill/>
        </p:spPr>
        <p:txBody>
          <a:bodyPr wrap="square">
            <a:spAutoFit/>
          </a:bodyPr>
          <a:lstStyle/>
          <a:p>
            <a:pPr algn="l">
              <a:defRPr sz="1000" b="0" i="0">
                <a:solidFill>
                  <a:srgbClr val="4A4A4A"/>
                </a:solidFill>
                <a:latin typeface="Quicksand"/>
              </a:defRPr>
            </a:pPr>
            <a:r>
              <a:t>Foundation → Walls → Roof → Windows → Finishing</a:t>
            </a:r>
          </a:p>
        </p:txBody>
      </p:sp>
      <p:sp>
        <p:nvSpPr>
          <p:cNvPr id="31" name="TextBox 30"/>
          <p:cNvSpPr txBox="1"/>
          <p:nvPr/>
        </p:nvSpPr>
        <p:spPr>
          <a:xfrm>
            <a:off x="9829800" y="2560320"/>
            <a:ext cx="182880" cy="365760"/>
          </a:xfrm>
          <a:prstGeom prst="rect">
            <a:avLst/>
          </a:prstGeom>
          <a:noFill/>
        </p:spPr>
        <p:txBody>
          <a:bodyPr wrap="square">
            <a:spAutoFit/>
          </a:bodyPr>
          <a:lstStyle/>
          <a:p>
            <a:pPr algn="l">
              <a:defRPr sz="2200" b="0" i="0">
                <a:solidFill>
                  <a:srgbClr val="9A9A9E"/>
                </a:solidFill>
                <a:latin typeface="Caveat"/>
              </a:defRPr>
            </a:pPr>
            <a:r>
              <a:t>→</a:t>
            </a:r>
          </a:p>
        </p:txBody>
      </p:sp>
      <p:sp>
        <p:nvSpPr>
          <p:cNvPr id="32" name="Rounded Rectangle 31"/>
          <p:cNvSpPr/>
          <p:nvPr/>
        </p:nvSpPr>
        <p:spPr>
          <a:xfrm rot="21582000">
            <a:off x="9966960" y="1554480"/>
            <a:ext cx="1737360" cy="256032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0" y="1645920"/>
            <a:ext cx="457200" cy="457200"/>
          </a:xfrm>
          <a:prstGeom prst="rect">
            <a:avLst/>
          </a:prstGeom>
          <a:noFill/>
        </p:spPr>
        <p:txBody>
          <a:bodyPr wrap="square">
            <a:spAutoFit/>
          </a:bodyPr>
          <a:lstStyle/>
          <a:p>
            <a:pPr algn="l">
              <a:defRPr sz="3600" b="1" i="0">
                <a:solidFill>
                  <a:srgbClr val="1A1A1A"/>
                </a:solidFill>
                <a:latin typeface="Caveat"/>
              </a:defRPr>
            </a:pPr>
            <a:r>
              <a:t>6</a:t>
            </a:r>
          </a:p>
        </p:txBody>
      </p:sp>
      <p:sp>
        <p:nvSpPr>
          <p:cNvPr id="34" name="TextBox 33"/>
          <p:cNvSpPr txBox="1"/>
          <p:nvPr/>
        </p:nvSpPr>
        <p:spPr>
          <a:xfrm>
            <a:off x="10104120" y="2148840"/>
            <a:ext cx="1463040" cy="640080"/>
          </a:xfrm>
          <a:prstGeom prst="rect">
            <a:avLst/>
          </a:prstGeom>
          <a:noFill/>
        </p:spPr>
        <p:txBody>
          <a:bodyPr wrap="square">
            <a:spAutoFit/>
          </a:bodyPr>
          <a:lstStyle/>
          <a:p>
            <a:pPr algn="l">
              <a:defRPr sz="1400" b="1" i="0">
                <a:solidFill>
                  <a:srgbClr val="1A1A1A"/>
                </a:solidFill>
                <a:latin typeface="Caveat"/>
              </a:defRPr>
            </a:pPr>
            <a:r>
              <a:t>Save &amp; compare builds</a:t>
            </a:r>
          </a:p>
        </p:txBody>
      </p:sp>
      <p:sp>
        <p:nvSpPr>
          <p:cNvPr id="35" name="TextBox 34"/>
          <p:cNvSpPr txBox="1"/>
          <p:nvPr/>
        </p:nvSpPr>
        <p:spPr>
          <a:xfrm>
            <a:off x="10104120" y="2834640"/>
            <a:ext cx="1463040" cy="914400"/>
          </a:xfrm>
          <a:prstGeom prst="rect">
            <a:avLst/>
          </a:prstGeom>
          <a:noFill/>
        </p:spPr>
        <p:txBody>
          <a:bodyPr wrap="square">
            <a:spAutoFit/>
          </a:bodyPr>
          <a:lstStyle/>
          <a:p>
            <a:pPr algn="l">
              <a:defRPr sz="1000" b="0" i="0">
                <a:solidFill>
                  <a:srgbClr val="4A4A4A"/>
                </a:solidFill>
                <a:latin typeface="Quicksand"/>
              </a:defRPr>
            </a:pPr>
            <a:r>
              <a:t>Store dataset, build another compare side by side</a:t>
            </a:r>
          </a:p>
        </p:txBody>
      </p:sp>
      <p:sp>
        <p:nvSpPr>
          <p:cNvPr id="36" name="Rounded Rectangle 35"/>
          <p:cNvSpPr/>
          <p:nvPr/>
        </p:nvSpPr>
        <p:spPr>
          <a:xfrm rot="21582000">
            <a:off x="365760" y="4389120"/>
            <a:ext cx="11430000" cy="1097280"/>
          </a:xfrm>
          <a:prstGeom prst="roundRect">
            <a:avLst/>
          </a:prstGeom>
          <a:solidFill>
            <a:srgbClr val="E8E8E0"/>
          </a:solidFill>
          <a:ln w="190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251959"/>
            <a:ext cx="2011680" cy="228600"/>
          </a:xfrm>
          <a:prstGeom prst="rect">
            <a:avLst/>
          </a:prstGeom>
          <a:noFill/>
        </p:spPr>
        <p:txBody>
          <a:bodyPr wrap="none">
            <a:spAutoFit/>
          </a:bodyPr>
          <a:lstStyle/>
          <a:p>
            <a:pPr>
              <a:defRPr sz="900" b="1">
                <a:solidFill>
                  <a:srgbClr val="1A1A1A"/>
                </a:solidFill>
                <a:latin typeface="Caveat"/>
              </a:defRPr>
            </a:pPr>
            <a:r>
              <a:t>MATERIAL CONSTRAINTS</a:t>
            </a:r>
          </a:p>
        </p:txBody>
      </p:sp>
      <p:sp>
        <p:nvSpPr>
          <p:cNvPr id="38" name="TextBox 37"/>
          <p:cNvSpPr txBox="1"/>
          <p:nvPr/>
        </p:nvSpPr>
        <p:spPr>
          <a:xfrm>
            <a:off x="640080" y="4617720"/>
            <a:ext cx="1371600" cy="228600"/>
          </a:xfrm>
          <a:prstGeom prst="rect">
            <a:avLst/>
          </a:prstGeom>
          <a:noFill/>
        </p:spPr>
        <p:txBody>
          <a:bodyPr wrap="square">
            <a:spAutoFit/>
          </a:bodyPr>
          <a:lstStyle/>
          <a:p>
            <a:pPr algn="l">
              <a:defRPr sz="1300" b="1" i="0">
                <a:solidFill>
                  <a:srgbClr val="1A1A1A"/>
                </a:solidFill>
                <a:latin typeface="Caveat"/>
              </a:defRPr>
            </a:pPr>
            <a:r>
              <a:t>Masonry:</a:t>
            </a:r>
          </a:p>
        </p:txBody>
      </p:sp>
      <p:sp>
        <p:nvSpPr>
          <p:cNvPr id="39" name="TextBox 38"/>
          <p:cNvSpPr txBox="1"/>
          <p:nvPr/>
        </p:nvSpPr>
        <p:spPr>
          <a:xfrm>
            <a:off x="2011680" y="4617720"/>
            <a:ext cx="2286000" cy="228600"/>
          </a:xfrm>
          <a:prstGeom prst="rect">
            <a:avLst/>
          </a:prstGeom>
          <a:noFill/>
        </p:spPr>
        <p:txBody>
          <a:bodyPr wrap="square">
            <a:spAutoFit/>
          </a:bodyPr>
          <a:lstStyle/>
          <a:p>
            <a:pPr algn="l">
              <a:defRPr sz="1100" b="0" i="0">
                <a:solidFill>
                  <a:srgbClr val="4A4A4A"/>
                </a:solidFill>
                <a:latin typeface="Quicksand"/>
              </a:defRPr>
            </a:pPr>
            <a:r>
              <a:t>brick or stone</a:t>
            </a:r>
          </a:p>
        </p:txBody>
      </p:sp>
      <p:sp>
        <p:nvSpPr>
          <p:cNvPr id="40" name="TextBox 39"/>
          <p:cNvSpPr txBox="1"/>
          <p:nvPr/>
        </p:nvSpPr>
        <p:spPr>
          <a:xfrm>
            <a:off x="4389120" y="4617720"/>
            <a:ext cx="1371600" cy="228600"/>
          </a:xfrm>
          <a:prstGeom prst="rect">
            <a:avLst/>
          </a:prstGeom>
          <a:noFill/>
        </p:spPr>
        <p:txBody>
          <a:bodyPr wrap="square">
            <a:spAutoFit/>
          </a:bodyPr>
          <a:lstStyle/>
          <a:p>
            <a:pPr algn="l">
              <a:defRPr sz="1300" b="1" i="0">
                <a:solidFill>
                  <a:srgbClr val="1A1A1A"/>
                </a:solidFill>
                <a:latin typeface="Caveat"/>
              </a:defRPr>
            </a:pPr>
            <a:r>
              <a:t>3D Printed:</a:t>
            </a:r>
          </a:p>
        </p:txBody>
      </p:sp>
      <p:sp>
        <p:nvSpPr>
          <p:cNvPr id="41" name="TextBox 40"/>
          <p:cNvSpPr txBox="1"/>
          <p:nvPr/>
        </p:nvSpPr>
        <p:spPr>
          <a:xfrm>
            <a:off x="5760720" y="4617720"/>
            <a:ext cx="2286000" cy="228600"/>
          </a:xfrm>
          <a:prstGeom prst="rect">
            <a:avLst/>
          </a:prstGeom>
          <a:noFill/>
        </p:spPr>
        <p:txBody>
          <a:bodyPr wrap="square">
            <a:spAutoFit/>
          </a:bodyPr>
          <a:lstStyle/>
          <a:p>
            <a:pPr algn="l">
              <a:defRPr sz="1100" b="0" i="0">
                <a:solidFill>
                  <a:srgbClr val="4A4A4A"/>
                </a:solidFill>
                <a:latin typeface="Quicksand"/>
              </a:defRPr>
            </a:pPr>
            <a:r>
              <a:t>earth (max 1 story) or concrete</a:t>
            </a:r>
          </a:p>
        </p:txBody>
      </p:sp>
      <p:sp>
        <p:nvSpPr>
          <p:cNvPr id="42" name="TextBox 41"/>
          <p:cNvSpPr txBox="1"/>
          <p:nvPr/>
        </p:nvSpPr>
        <p:spPr>
          <a:xfrm>
            <a:off x="8138159" y="4617720"/>
            <a:ext cx="1371600" cy="228600"/>
          </a:xfrm>
          <a:prstGeom prst="rect">
            <a:avLst/>
          </a:prstGeom>
          <a:noFill/>
        </p:spPr>
        <p:txBody>
          <a:bodyPr wrap="square">
            <a:spAutoFit/>
          </a:bodyPr>
          <a:lstStyle/>
          <a:p>
            <a:pPr algn="l">
              <a:defRPr sz="1300" b="1" i="0">
                <a:solidFill>
                  <a:srgbClr val="1A1A1A"/>
                </a:solidFill>
                <a:latin typeface="Caveat"/>
              </a:defRPr>
            </a:pPr>
            <a:r>
              <a:t>Prefab:</a:t>
            </a:r>
          </a:p>
        </p:txBody>
      </p:sp>
      <p:sp>
        <p:nvSpPr>
          <p:cNvPr id="43" name="TextBox 42"/>
          <p:cNvSpPr txBox="1"/>
          <p:nvPr/>
        </p:nvSpPr>
        <p:spPr>
          <a:xfrm>
            <a:off x="9509759" y="4617720"/>
            <a:ext cx="2286000" cy="228600"/>
          </a:xfrm>
          <a:prstGeom prst="rect">
            <a:avLst/>
          </a:prstGeom>
          <a:noFill/>
        </p:spPr>
        <p:txBody>
          <a:bodyPr wrap="square">
            <a:spAutoFit/>
          </a:bodyPr>
          <a:lstStyle/>
          <a:p>
            <a:pPr algn="l">
              <a:defRPr sz="1100" b="0" i="0">
                <a:solidFill>
                  <a:srgbClr val="4A4A4A"/>
                </a:solidFill>
                <a:latin typeface="Quicksand"/>
              </a:defRPr>
            </a:pPr>
            <a:r>
              <a:t>modular grid panels</a:t>
            </a:r>
          </a:p>
        </p:txBody>
      </p:sp>
      <p:sp>
        <p:nvSpPr>
          <p:cNvPr id="44" name="TextBox 43"/>
          <p:cNvSpPr txBox="1"/>
          <p:nvPr/>
        </p:nvSpPr>
        <p:spPr>
          <a:xfrm>
            <a:off x="640080" y="4983480"/>
            <a:ext cx="10058400" cy="274320"/>
          </a:xfrm>
          <a:prstGeom prst="rect">
            <a:avLst/>
          </a:prstGeom>
          <a:noFill/>
        </p:spPr>
        <p:txBody>
          <a:bodyPr wrap="square">
            <a:spAutoFit/>
          </a:bodyPr>
          <a:lstStyle/>
          <a:p>
            <a:pPr algn="l">
              <a:defRPr sz="1000" b="0" i="1">
                <a:solidFill>
                  <a:srgbClr val="CC3333"/>
                </a:solidFill>
                <a:latin typeface="Quicksand"/>
              </a:defRPr>
            </a:pPr>
            <a:r>
              <a:t>System shows red / error feedback when parameters are not feasible — user adjusts until valid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10515600" y="182880"/>
            <a:ext cx="1371600" cy="914400"/>
          </a:xfrm>
          <a:prstGeom prst="rect">
            <a:avLst/>
          </a:prstGeom>
          <a:noFill/>
        </p:spPr>
        <p:txBody>
          <a:bodyPr wrap="square">
            <a:spAutoFit/>
          </a:bodyPr>
          <a:lstStyle/>
          <a:p>
            <a:pPr algn="r">
              <a:defRPr sz="6000" b="1" i="0">
                <a:solidFill>
                  <a:srgbClr val="E8E8E0"/>
                </a:solidFill>
                <a:latin typeface="Caveat"/>
              </a:defRPr>
            </a:pPr>
            <a:r>
              <a:t>03</a:t>
            </a:r>
          </a:p>
        </p:txBody>
      </p:sp>
      <p:sp>
        <p:nvSpPr>
          <p:cNvPr id="3" name="TextBox 2"/>
          <p:cNvSpPr txBox="1"/>
          <p:nvPr/>
        </p:nvSpPr>
        <p:spPr>
          <a:xfrm>
            <a:off x="457200" y="6400800"/>
            <a:ext cx="5486400" cy="274320"/>
          </a:xfrm>
          <a:prstGeom prst="rect">
            <a:avLst/>
          </a:prstGeom>
          <a:noFill/>
        </p:spPr>
        <p:txBody>
          <a:bodyPr wrap="square">
            <a:spAutoFit/>
          </a:bodyPr>
          <a:lstStyle/>
          <a:p>
            <a:pPr algn="l">
              <a:defRPr sz="800" b="0" i="0">
                <a:solidFill>
                  <a:srgbClr val="9A9A9E"/>
                </a:solidFill>
                <a:latin typeface="Quicksand"/>
              </a:defRPr>
            </a:pPr>
            <a:r>
              <a:t>Hardware III — IAAC MRAC+MAAI 2025/2026</a:t>
            </a:r>
          </a:p>
        </p:txBody>
      </p:sp>
      <p:sp>
        <p:nvSpPr>
          <p:cNvPr id="4" name="TextBox 3"/>
          <p:cNvSpPr txBox="1"/>
          <p:nvPr/>
        </p:nvSpPr>
        <p:spPr>
          <a:xfrm>
            <a:off x="10515600" y="6400800"/>
            <a:ext cx="1371600" cy="274320"/>
          </a:xfrm>
          <a:prstGeom prst="rect">
            <a:avLst/>
          </a:prstGeom>
          <a:noFill/>
        </p:spPr>
        <p:txBody>
          <a:bodyPr wrap="square">
            <a:spAutoFit/>
          </a:bodyPr>
          <a:lstStyle/>
          <a:p>
            <a:pPr algn="r">
              <a:defRPr sz="800" b="0" i="0">
                <a:solidFill>
                  <a:srgbClr val="9A9A9E"/>
                </a:solidFill>
                <a:latin typeface="Quicksand"/>
              </a:defRPr>
            </a:pPr>
            <a:r>
              <a:t>3 / 5</a:t>
            </a:r>
          </a:p>
        </p:txBody>
      </p:sp>
      <p:sp>
        <p:nvSpPr>
          <p:cNvPr id="5" name="TextBox 4"/>
          <p:cNvSpPr txBox="1"/>
          <p:nvPr/>
        </p:nvSpPr>
        <p:spPr>
          <a:xfrm>
            <a:off x="548640" y="274320"/>
            <a:ext cx="9144000" cy="822960"/>
          </a:xfrm>
          <a:prstGeom prst="rect">
            <a:avLst/>
          </a:prstGeom>
          <a:noFill/>
        </p:spPr>
        <p:txBody>
          <a:bodyPr wrap="square">
            <a:spAutoFit/>
          </a:bodyPr>
          <a:lstStyle/>
          <a:p>
            <a:pPr algn="l">
              <a:defRPr sz="4400" b="1" i="0">
                <a:solidFill>
                  <a:srgbClr val="1A1A1A"/>
                </a:solidFill>
                <a:latin typeface="Caveat"/>
              </a:defRPr>
            </a:pPr>
            <a:r>
              <a:t>System Architecture</a:t>
            </a:r>
          </a:p>
        </p:txBody>
      </p:sp>
      <p:sp>
        <p:nvSpPr>
          <p:cNvPr id="6" name="TextBox 5"/>
          <p:cNvSpPr txBox="1"/>
          <p:nvPr/>
        </p:nvSpPr>
        <p:spPr>
          <a:xfrm>
            <a:off x="548640" y="960120"/>
            <a:ext cx="9144000" cy="274320"/>
          </a:xfrm>
          <a:prstGeom prst="rect">
            <a:avLst/>
          </a:prstGeom>
          <a:noFill/>
        </p:spPr>
        <p:txBody>
          <a:bodyPr wrap="square">
            <a:spAutoFit/>
          </a:bodyPr>
          <a:lstStyle/>
          <a:p>
            <a:pPr algn="l">
              <a:defRPr sz="1400" b="0" i="0">
                <a:solidFill>
                  <a:srgbClr val="9A9A9E"/>
                </a:solidFill>
                <a:latin typeface="Quicksand"/>
              </a:defRPr>
            </a:pPr>
            <a:r>
              <a:t>Physical components → Processing → Projection feedback</a:t>
            </a:r>
          </a:p>
        </p:txBody>
      </p:sp>
      <p:sp>
        <p:nvSpPr>
          <p:cNvPr id="7" name="Rounded Rectangle 6"/>
          <p:cNvSpPr/>
          <p:nvPr/>
        </p:nvSpPr>
        <p:spPr>
          <a:xfrm rot="21582000">
            <a:off x="274320" y="1417320"/>
            <a:ext cx="3749039" cy="420624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280160"/>
            <a:ext cx="2011680" cy="228600"/>
          </a:xfrm>
          <a:prstGeom prst="rect">
            <a:avLst/>
          </a:prstGeom>
          <a:noFill/>
        </p:spPr>
        <p:txBody>
          <a:bodyPr wrap="none">
            <a:spAutoFit/>
          </a:bodyPr>
          <a:lstStyle/>
          <a:p>
            <a:pPr>
              <a:defRPr sz="900" b="1">
                <a:solidFill>
                  <a:srgbClr val="1A1A1A"/>
                </a:solidFill>
                <a:latin typeface="Caveat"/>
              </a:defRPr>
            </a:pPr>
            <a:r>
              <a:t>PHYSICAL INPUTS</a:t>
            </a:r>
          </a:p>
        </p:txBody>
      </p:sp>
      <p:sp>
        <p:nvSpPr>
          <p:cNvPr id="9" name="TextBox 8"/>
          <p:cNvSpPr txBox="1"/>
          <p:nvPr/>
        </p:nvSpPr>
        <p:spPr>
          <a:xfrm>
            <a:off x="457200" y="1600200"/>
            <a:ext cx="3383279" cy="365760"/>
          </a:xfrm>
          <a:prstGeom prst="rect">
            <a:avLst/>
          </a:prstGeom>
          <a:noFill/>
        </p:spPr>
        <p:txBody>
          <a:bodyPr wrap="square">
            <a:spAutoFit/>
          </a:bodyPr>
          <a:lstStyle/>
          <a:p>
            <a:pPr algn="l">
              <a:defRPr sz="2200" b="1" i="0">
                <a:solidFill>
                  <a:srgbClr val="1A1A1A"/>
                </a:solidFill>
                <a:latin typeface="Caveat"/>
              </a:defRPr>
            </a:pPr>
            <a:r>
              <a:t>What's on the table</a:t>
            </a:r>
          </a:p>
        </p:txBody>
      </p:sp>
      <p:sp>
        <p:nvSpPr>
          <p:cNvPr id="10" name="TextBox 9"/>
          <p:cNvSpPr txBox="1"/>
          <p:nvPr/>
        </p:nvSpPr>
        <p:spPr>
          <a:xfrm>
            <a:off x="457200" y="2057400"/>
            <a:ext cx="3383279" cy="182880"/>
          </a:xfrm>
          <a:prstGeom prst="rect">
            <a:avLst/>
          </a:prstGeom>
          <a:noFill/>
        </p:spPr>
        <p:txBody>
          <a:bodyPr wrap="square">
            <a:spAutoFit/>
          </a:bodyPr>
          <a:lstStyle/>
          <a:p>
            <a:pPr algn="l">
              <a:defRPr sz="1200" b="1" i="0">
                <a:solidFill>
                  <a:srgbClr val="1A1A1A"/>
                </a:solidFill>
                <a:latin typeface="Quicksand"/>
              </a:defRPr>
            </a:pPr>
            <a:r>
              <a:t>RFID pedestal + ESP</a:t>
            </a:r>
          </a:p>
        </p:txBody>
      </p:sp>
      <p:sp>
        <p:nvSpPr>
          <p:cNvPr id="11" name="TextBox 10"/>
          <p:cNvSpPr txBox="1"/>
          <p:nvPr/>
        </p:nvSpPr>
        <p:spPr>
          <a:xfrm>
            <a:off x="457200" y="2258568"/>
            <a:ext cx="3383279" cy="182880"/>
          </a:xfrm>
          <a:prstGeom prst="rect">
            <a:avLst/>
          </a:prstGeom>
          <a:noFill/>
        </p:spPr>
        <p:txBody>
          <a:bodyPr wrap="square">
            <a:spAutoFit/>
          </a:bodyPr>
          <a:lstStyle/>
          <a:p>
            <a:pPr algn="l">
              <a:defRPr sz="1000" b="0" i="0">
                <a:solidFill>
                  <a:srgbClr val="4A4A4A"/>
                </a:solidFill>
                <a:latin typeface="Quicksand"/>
              </a:defRPr>
            </a:pPr>
            <a:r>
              <a:t>Place 3D model to select method</a:t>
            </a:r>
          </a:p>
        </p:txBody>
      </p:sp>
      <p:sp>
        <p:nvSpPr>
          <p:cNvPr id="12" name="TextBox 11"/>
          <p:cNvSpPr txBox="1"/>
          <p:nvPr/>
        </p:nvSpPr>
        <p:spPr>
          <a:xfrm>
            <a:off x="457200" y="2651760"/>
            <a:ext cx="3383279" cy="182880"/>
          </a:xfrm>
          <a:prstGeom prst="rect">
            <a:avLst/>
          </a:prstGeom>
          <a:noFill/>
        </p:spPr>
        <p:txBody>
          <a:bodyPr wrap="square">
            <a:spAutoFit/>
          </a:bodyPr>
          <a:lstStyle/>
          <a:p>
            <a:pPr algn="l">
              <a:defRPr sz="1200" b="1" i="0">
                <a:solidFill>
                  <a:srgbClr val="1A1A1A"/>
                </a:solidFill>
                <a:latin typeface="Quicksand"/>
              </a:defRPr>
            </a:pPr>
            <a:r>
              <a:t>10 ArUco pucks</a:t>
            </a:r>
          </a:p>
        </p:txBody>
      </p:sp>
      <p:sp>
        <p:nvSpPr>
          <p:cNvPr id="13" name="TextBox 12"/>
          <p:cNvSpPr txBox="1"/>
          <p:nvPr/>
        </p:nvSpPr>
        <p:spPr>
          <a:xfrm>
            <a:off x="457200" y="2852928"/>
            <a:ext cx="3383279" cy="182880"/>
          </a:xfrm>
          <a:prstGeom prst="rect">
            <a:avLst/>
          </a:prstGeom>
          <a:noFill/>
        </p:spPr>
        <p:txBody>
          <a:bodyPr wrap="square">
            <a:spAutoFit/>
          </a:bodyPr>
          <a:lstStyle/>
          <a:p>
            <a:pPr algn="l">
              <a:defRPr sz="1000" b="0" i="0">
                <a:solidFill>
                  <a:srgbClr val="4A4A4A"/>
                </a:solidFill>
                <a:latin typeface="Quicksand"/>
              </a:defRPr>
            </a:pPr>
            <a:r>
              <a:t>Arrange on table for building footprint</a:t>
            </a:r>
          </a:p>
        </p:txBody>
      </p:sp>
      <p:sp>
        <p:nvSpPr>
          <p:cNvPr id="14" name="TextBox 13"/>
          <p:cNvSpPr txBox="1"/>
          <p:nvPr/>
        </p:nvSpPr>
        <p:spPr>
          <a:xfrm>
            <a:off x="457200" y="3246120"/>
            <a:ext cx="3383279" cy="182880"/>
          </a:xfrm>
          <a:prstGeom prst="rect">
            <a:avLst/>
          </a:prstGeom>
          <a:noFill/>
        </p:spPr>
        <p:txBody>
          <a:bodyPr wrap="square">
            <a:spAutoFit/>
          </a:bodyPr>
          <a:lstStyle/>
          <a:p>
            <a:pPr algn="l">
              <a:defRPr sz="1200" b="1" i="0">
                <a:solidFill>
                  <a:srgbClr val="1A1A1A"/>
                </a:solidFill>
                <a:latin typeface="Quicksand"/>
              </a:defRPr>
            </a:pPr>
            <a:r>
              <a:t>Height marker</a:t>
            </a:r>
          </a:p>
        </p:txBody>
      </p:sp>
      <p:sp>
        <p:nvSpPr>
          <p:cNvPr id="15" name="TextBox 14"/>
          <p:cNvSpPr txBox="1"/>
          <p:nvPr/>
        </p:nvSpPr>
        <p:spPr>
          <a:xfrm>
            <a:off x="457200" y="3447288"/>
            <a:ext cx="3383279" cy="182880"/>
          </a:xfrm>
          <a:prstGeom prst="rect">
            <a:avLst/>
          </a:prstGeom>
          <a:noFill/>
        </p:spPr>
        <p:txBody>
          <a:bodyPr wrap="square">
            <a:spAutoFit/>
          </a:bodyPr>
          <a:lstStyle/>
          <a:p>
            <a:pPr algn="l">
              <a:defRPr sz="1000" b="0" i="0">
                <a:solidFill>
                  <a:srgbClr val="4A4A4A"/>
                </a:solidFill>
                <a:latin typeface="Quicksand"/>
              </a:defRPr>
            </a:pPr>
            <a:r>
              <a:t>Physically distinct ArUco for floor count</a:t>
            </a:r>
          </a:p>
        </p:txBody>
      </p:sp>
      <p:sp>
        <p:nvSpPr>
          <p:cNvPr id="16" name="TextBox 15"/>
          <p:cNvSpPr txBox="1"/>
          <p:nvPr/>
        </p:nvSpPr>
        <p:spPr>
          <a:xfrm>
            <a:off x="457200" y="3840480"/>
            <a:ext cx="3383279" cy="182880"/>
          </a:xfrm>
          <a:prstGeom prst="rect">
            <a:avLst/>
          </a:prstGeom>
          <a:noFill/>
        </p:spPr>
        <p:txBody>
          <a:bodyPr wrap="square">
            <a:spAutoFit/>
          </a:bodyPr>
          <a:lstStyle/>
          <a:p>
            <a:pPr algn="l">
              <a:defRPr sz="1200" b="1" i="0">
                <a:solidFill>
                  <a:srgbClr val="1A1A1A"/>
                </a:solidFill>
                <a:latin typeface="Quicksand"/>
              </a:defRPr>
            </a:pPr>
            <a:r>
              <a:t>Material controller</a:t>
            </a:r>
          </a:p>
        </p:txBody>
      </p:sp>
      <p:sp>
        <p:nvSpPr>
          <p:cNvPr id="17" name="TextBox 16"/>
          <p:cNvSpPr txBox="1"/>
          <p:nvPr/>
        </p:nvSpPr>
        <p:spPr>
          <a:xfrm>
            <a:off x="457200" y="4041648"/>
            <a:ext cx="3383279" cy="182880"/>
          </a:xfrm>
          <a:prstGeom prst="rect">
            <a:avLst/>
          </a:prstGeom>
          <a:noFill/>
        </p:spPr>
        <p:txBody>
          <a:bodyPr wrap="square">
            <a:spAutoFit/>
          </a:bodyPr>
          <a:lstStyle/>
          <a:p>
            <a:pPr algn="l">
              <a:defRPr sz="1000" b="0" i="0">
                <a:solidFill>
                  <a:srgbClr val="4A4A4A"/>
                </a:solidFill>
                <a:latin typeface="Quicksand"/>
              </a:defRPr>
            </a:pPr>
            <a:r>
              <a:t>ArUco dial for foundation + material</a:t>
            </a:r>
          </a:p>
        </p:txBody>
      </p:sp>
      <p:sp>
        <p:nvSpPr>
          <p:cNvPr id="18" name="TextBox 17"/>
          <p:cNvSpPr txBox="1"/>
          <p:nvPr/>
        </p:nvSpPr>
        <p:spPr>
          <a:xfrm>
            <a:off x="457200" y="4434840"/>
            <a:ext cx="3383279" cy="182880"/>
          </a:xfrm>
          <a:prstGeom prst="rect">
            <a:avLst/>
          </a:prstGeom>
          <a:noFill/>
        </p:spPr>
        <p:txBody>
          <a:bodyPr wrap="square">
            <a:spAutoFit/>
          </a:bodyPr>
          <a:lstStyle/>
          <a:p>
            <a:pPr algn="l">
              <a:defRPr sz="1200" b="1" i="0">
                <a:solidFill>
                  <a:srgbClr val="1A1A1A"/>
                </a:solidFill>
                <a:latin typeface="Quicksand"/>
              </a:defRPr>
            </a:pPr>
            <a:r>
              <a:t>ESP controllers</a:t>
            </a:r>
          </a:p>
        </p:txBody>
      </p:sp>
      <p:sp>
        <p:nvSpPr>
          <p:cNvPr id="19" name="TextBox 18"/>
          <p:cNvSpPr txBox="1"/>
          <p:nvPr/>
        </p:nvSpPr>
        <p:spPr>
          <a:xfrm>
            <a:off x="457200" y="4636008"/>
            <a:ext cx="3383279" cy="182880"/>
          </a:xfrm>
          <a:prstGeom prst="rect">
            <a:avLst/>
          </a:prstGeom>
          <a:noFill/>
        </p:spPr>
        <p:txBody>
          <a:bodyPr wrap="square">
            <a:spAutoFit/>
          </a:bodyPr>
          <a:lstStyle/>
          <a:p>
            <a:pPr algn="l">
              <a:defRPr sz="1000" b="0" i="0">
                <a:solidFill>
                  <a:srgbClr val="4A4A4A"/>
                </a:solidFill>
                <a:latin typeface="Quicksand"/>
              </a:defRPr>
            </a:pPr>
            <a:r>
              <a:t>Handle all hardware communication</a:t>
            </a:r>
          </a:p>
        </p:txBody>
      </p:sp>
      <p:sp>
        <p:nvSpPr>
          <p:cNvPr id="20" name="Rounded Rectangle 19"/>
          <p:cNvSpPr/>
          <p:nvPr/>
        </p:nvSpPr>
        <p:spPr>
          <a:xfrm rot="21582000">
            <a:off x="4206240" y="1417320"/>
            <a:ext cx="3749039" cy="420624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1280160"/>
            <a:ext cx="2011680" cy="228600"/>
          </a:xfrm>
          <a:prstGeom prst="rect">
            <a:avLst/>
          </a:prstGeom>
          <a:noFill/>
        </p:spPr>
        <p:txBody>
          <a:bodyPr wrap="none">
            <a:spAutoFit/>
          </a:bodyPr>
          <a:lstStyle/>
          <a:p>
            <a:pPr>
              <a:defRPr sz="900" b="1">
                <a:solidFill>
                  <a:srgbClr val="1A1A1A"/>
                </a:solidFill>
                <a:latin typeface="Caveat"/>
              </a:defRPr>
            </a:pPr>
            <a:r>
              <a:t>PROCESSING</a:t>
            </a:r>
          </a:p>
        </p:txBody>
      </p:sp>
      <p:sp>
        <p:nvSpPr>
          <p:cNvPr id="22" name="TextBox 21"/>
          <p:cNvSpPr txBox="1"/>
          <p:nvPr/>
        </p:nvSpPr>
        <p:spPr>
          <a:xfrm>
            <a:off x="4389120" y="1600200"/>
            <a:ext cx="3383279" cy="365760"/>
          </a:xfrm>
          <a:prstGeom prst="rect">
            <a:avLst/>
          </a:prstGeom>
          <a:noFill/>
        </p:spPr>
        <p:txBody>
          <a:bodyPr wrap="square">
            <a:spAutoFit/>
          </a:bodyPr>
          <a:lstStyle/>
          <a:p>
            <a:pPr algn="l">
              <a:defRPr sz="2200" b="1" i="0">
                <a:solidFill>
                  <a:srgbClr val="1A1A1A"/>
                </a:solidFill>
                <a:latin typeface="Caveat"/>
              </a:defRPr>
            </a:pPr>
            <a:r>
              <a:t>TouchDesigner + YOLO</a:t>
            </a:r>
          </a:p>
        </p:txBody>
      </p:sp>
      <p:sp>
        <p:nvSpPr>
          <p:cNvPr id="23" name="TextBox 22"/>
          <p:cNvSpPr txBox="1"/>
          <p:nvPr/>
        </p:nvSpPr>
        <p:spPr>
          <a:xfrm>
            <a:off x="4389120" y="2057400"/>
            <a:ext cx="3383279" cy="182880"/>
          </a:xfrm>
          <a:prstGeom prst="rect">
            <a:avLst/>
          </a:prstGeom>
          <a:noFill/>
        </p:spPr>
        <p:txBody>
          <a:bodyPr wrap="square">
            <a:spAutoFit/>
          </a:bodyPr>
          <a:lstStyle/>
          <a:p>
            <a:pPr algn="l">
              <a:defRPr sz="1200" b="1" i="0">
                <a:solidFill>
                  <a:srgbClr val="1A1A1A"/>
                </a:solidFill>
                <a:latin typeface="Quicksand"/>
              </a:defRPr>
            </a:pPr>
            <a:r>
              <a:t>Overhead camera</a:t>
            </a:r>
          </a:p>
        </p:txBody>
      </p:sp>
      <p:sp>
        <p:nvSpPr>
          <p:cNvPr id="24" name="TextBox 23"/>
          <p:cNvSpPr txBox="1"/>
          <p:nvPr/>
        </p:nvSpPr>
        <p:spPr>
          <a:xfrm>
            <a:off x="4389120" y="2258568"/>
            <a:ext cx="3383279" cy="182880"/>
          </a:xfrm>
          <a:prstGeom prst="rect">
            <a:avLst/>
          </a:prstGeom>
          <a:noFill/>
        </p:spPr>
        <p:txBody>
          <a:bodyPr wrap="square">
            <a:spAutoFit/>
          </a:bodyPr>
          <a:lstStyle/>
          <a:p>
            <a:pPr algn="l">
              <a:defRPr sz="1000" b="0" i="0">
                <a:solidFill>
                  <a:srgbClr val="4A4A4A"/>
                </a:solidFill>
                <a:latin typeface="Quicksand"/>
              </a:defRPr>
            </a:pPr>
            <a:r>
              <a:t>Tracks ArUco positions &amp; distances</a:t>
            </a:r>
          </a:p>
        </p:txBody>
      </p:sp>
      <p:sp>
        <p:nvSpPr>
          <p:cNvPr id="25" name="TextBox 24"/>
          <p:cNvSpPr txBox="1"/>
          <p:nvPr/>
        </p:nvSpPr>
        <p:spPr>
          <a:xfrm>
            <a:off x="4389120" y="2651760"/>
            <a:ext cx="3383279" cy="182880"/>
          </a:xfrm>
          <a:prstGeom prst="rect">
            <a:avLst/>
          </a:prstGeom>
          <a:noFill/>
        </p:spPr>
        <p:txBody>
          <a:bodyPr wrap="square">
            <a:spAutoFit/>
          </a:bodyPr>
          <a:lstStyle/>
          <a:p>
            <a:pPr algn="l">
              <a:defRPr sz="1200" b="1" i="0">
                <a:solidFill>
                  <a:srgbClr val="1A1A1A"/>
                </a:solidFill>
                <a:latin typeface="Quicksand"/>
              </a:defRPr>
            </a:pPr>
            <a:r>
              <a:t>YOLO plugin</a:t>
            </a:r>
          </a:p>
        </p:txBody>
      </p:sp>
      <p:sp>
        <p:nvSpPr>
          <p:cNvPr id="26" name="TextBox 25"/>
          <p:cNvSpPr txBox="1"/>
          <p:nvPr/>
        </p:nvSpPr>
        <p:spPr>
          <a:xfrm>
            <a:off x="4389120" y="2852928"/>
            <a:ext cx="3383279" cy="182880"/>
          </a:xfrm>
          <a:prstGeom prst="rect">
            <a:avLst/>
          </a:prstGeom>
          <a:noFill/>
        </p:spPr>
        <p:txBody>
          <a:bodyPr wrap="square">
            <a:spAutoFit/>
          </a:bodyPr>
          <a:lstStyle/>
          <a:p>
            <a:pPr algn="l">
              <a:defRPr sz="1000" b="0" i="0">
                <a:solidFill>
                  <a:srgbClr val="4A4A4A"/>
                </a:solidFill>
                <a:latin typeface="Quicksand"/>
              </a:defRPr>
            </a:pPr>
            <a:r>
              <a:t>Object recognition in TouchDesigner</a:t>
            </a:r>
          </a:p>
        </p:txBody>
      </p:sp>
      <p:sp>
        <p:nvSpPr>
          <p:cNvPr id="27" name="TextBox 26"/>
          <p:cNvSpPr txBox="1"/>
          <p:nvPr/>
        </p:nvSpPr>
        <p:spPr>
          <a:xfrm>
            <a:off x="4389120" y="3246120"/>
            <a:ext cx="3383279" cy="182880"/>
          </a:xfrm>
          <a:prstGeom prst="rect">
            <a:avLst/>
          </a:prstGeom>
          <a:noFill/>
        </p:spPr>
        <p:txBody>
          <a:bodyPr wrap="square">
            <a:spAutoFit/>
          </a:bodyPr>
          <a:lstStyle/>
          <a:p>
            <a:pPr algn="l">
              <a:defRPr sz="1200" b="1" i="0">
                <a:solidFill>
                  <a:srgbClr val="1A1A1A"/>
                </a:solidFill>
                <a:latin typeface="Quicksand"/>
              </a:defRPr>
            </a:pPr>
            <a:r>
              <a:t>Validation engine</a:t>
            </a:r>
          </a:p>
        </p:txBody>
      </p:sp>
      <p:sp>
        <p:nvSpPr>
          <p:cNvPr id="28" name="TextBox 27"/>
          <p:cNvSpPr txBox="1"/>
          <p:nvPr/>
        </p:nvSpPr>
        <p:spPr>
          <a:xfrm>
            <a:off x="4389120" y="3447288"/>
            <a:ext cx="3383279" cy="182880"/>
          </a:xfrm>
          <a:prstGeom prst="rect">
            <a:avLst/>
          </a:prstGeom>
          <a:noFill/>
        </p:spPr>
        <p:txBody>
          <a:bodyPr wrap="square">
            <a:spAutoFit/>
          </a:bodyPr>
          <a:lstStyle/>
          <a:p>
            <a:pPr algn="l">
              <a:defRPr sz="1000" b="0" i="0">
                <a:solidFill>
                  <a:srgbClr val="4A4A4A"/>
                </a:solidFill>
                <a:latin typeface="Quicksand"/>
              </a:defRPr>
            </a:pPr>
            <a:r>
              <a:t>Enforces realistic constraints</a:t>
            </a:r>
          </a:p>
        </p:txBody>
      </p:sp>
      <p:sp>
        <p:nvSpPr>
          <p:cNvPr id="29" name="TextBox 28"/>
          <p:cNvSpPr txBox="1"/>
          <p:nvPr/>
        </p:nvSpPr>
        <p:spPr>
          <a:xfrm>
            <a:off x="4389120" y="3840480"/>
            <a:ext cx="3383279" cy="182880"/>
          </a:xfrm>
          <a:prstGeom prst="rect">
            <a:avLst/>
          </a:prstGeom>
          <a:noFill/>
        </p:spPr>
        <p:txBody>
          <a:bodyPr wrap="square">
            <a:spAutoFit/>
          </a:bodyPr>
          <a:lstStyle/>
          <a:p>
            <a:pPr algn="l">
              <a:defRPr sz="1200" b="1" i="0">
                <a:solidFill>
                  <a:srgbClr val="1A1A1A"/>
                </a:solidFill>
                <a:latin typeface="Quicksand"/>
              </a:defRPr>
            </a:pPr>
            <a:r>
              <a:t>Rhino / Grasshopper</a:t>
            </a:r>
          </a:p>
        </p:txBody>
      </p:sp>
      <p:sp>
        <p:nvSpPr>
          <p:cNvPr id="30" name="TextBox 29"/>
          <p:cNvSpPr txBox="1"/>
          <p:nvPr/>
        </p:nvSpPr>
        <p:spPr>
          <a:xfrm>
            <a:off x="4389120" y="4041648"/>
            <a:ext cx="3383279" cy="182880"/>
          </a:xfrm>
          <a:prstGeom prst="rect">
            <a:avLst/>
          </a:prstGeom>
          <a:noFill/>
        </p:spPr>
        <p:txBody>
          <a:bodyPr wrap="square">
            <a:spAutoFit/>
          </a:bodyPr>
          <a:lstStyle/>
          <a:p>
            <a:pPr algn="l">
              <a:defRPr sz="1000" b="0" i="0">
                <a:solidFill>
                  <a:srgbClr val="4A4A4A"/>
                </a:solidFill>
                <a:latin typeface="Quicksand"/>
              </a:defRPr>
            </a:pPr>
            <a:r>
              <a:t>Geometry + parametric data</a:t>
            </a:r>
          </a:p>
        </p:txBody>
      </p:sp>
      <p:sp>
        <p:nvSpPr>
          <p:cNvPr id="31" name="TextBox 30"/>
          <p:cNvSpPr txBox="1"/>
          <p:nvPr/>
        </p:nvSpPr>
        <p:spPr>
          <a:xfrm>
            <a:off x="4389120" y="4434840"/>
            <a:ext cx="3383279" cy="182880"/>
          </a:xfrm>
          <a:prstGeom prst="rect">
            <a:avLst/>
          </a:prstGeom>
          <a:noFill/>
        </p:spPr>
        <p:txBody>
          <a:bodyPr wrap="square">
            <a:spAutoFit/>
          </a:bodyPr>
          <a:lstStyle/>
          <a:p>
            <a:pPr algn="l">
              <a:defRPr sz="1200" b="1" i="0">
                <a:solidFill>
                  <a:srgbClr val="1A1A1A"/>
                </a:solidFill>
                <a:latin typeface="Quicksand"/>
              </a:defRPr>
            </a:pPr>
            <a:r>
              <a:t>Scaling system</a:t>
            </a:r>
          </a:p>
        </p:txBody>
      </p:sp>
      <p:sp>
        <p:nvSpPr>
          <p:cNvPr id="32" name="TextBox 31"/>
          <p:cNvSpPr txBox="1"/>
          <p:nvPr/>
        </p:nvSpPr>
        <p:spPr>
          <a:xfrm>
            <a:off x="4389120" y="4636008"/>
            <a:ext cx="3383279" cy="182880"/>
          </a:xfrm>
          <a:prstGeom prst="rect">
            <a:avLst/>
          </a:prstGeom>
          <a:noFill/>
        </p:spPr>
        <p:txBody>
          <a:bodyPr wrap="square">
            <a:spAutoFit/>
          </a:bodyPr>
          <a:lstStyle/>
          <a:p>
            <a:pPr algn="l">
              <a:defRPr sz="1000" b="0" i="0">
                <a:solidFill>
                  <a:srgbClr val="4A4A4A"/>
                </a:solidFill>
                <a:latin typeface="Quicksand"/>
              </a:defRPr>
            </a:pPr>
            <a:r>
              <a:t>Maps table distances to real meters</a:t>
            </a:r>
          </a:p>
        </p:txBody>
      </p:sp>
      <p:sp>
        <p:nvSpPr>
          <p:cNvPr id="33" name="Rounded Rectangle 32"/>
          <p:cNvSpPr/>
          <p:nvPr/>
        </p:nvSpPr>
        <p:spPr>
          <a:xfrm rot="21582000">
            <a:off x="8138160" y="1417320"/>
            <a:ext cx="3749039" cy="420624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75320" y="1280160"/>
            <a:ext cx="2011680" cy="228600"/>
          </a:xfrm>
          <a:prstGeom prst="rect">
            <a:avLst/>
          </a:prstGeom>
          <a:noFill/>
        </p:spPr>
        <p:txBody>
          <a:bodyPr wrap="none">
            <a:spAutoFit/>
          </a:bodyPr>
          <a:lstStyle/>
          <a:p>
            <a:pPr>
              <a:defRPr sz="900" b="1">
                <a:solidFill>
                  <a:srgbClr val="1A1A1A"/>
                </a:solidFill>
                <a:latin typeface="Caveat"/>
              </a:defRPr>
            </a:pPr>
            <a:r>
              <a:t>OUTPUT</a:t>
            </a:r>
          </a:p>
        </p:txBody>
      </p:sp>
      <p:sp>
        <p:nvSpPr>
          <p:cNvPr id="35" name="TextBox 34"/>
          <p:cNvSpPr txBox="1"/>
          <p:nvPr/>
        </p:nvSpPr>
        <p:spPr>
          <a:xfrm>
            <a:off x="8321040" y="1600200"/>
            <a:ext cx="3383279" cy="365760"/>
          </a:xfrm>
          <a:prstGeom prst="rect">
            <a:avLst/>
          </a:prstGeom>
          <a:noFill/>
        </p:spPr>
        <p:txBody>
          <a:bodyPr wrap="square">
            <a:spAutoFit/>
          </a:bodyPr>
          <a:lstStyle/>
          <a:p>
            <a:pPr algn="l">
              <a:defRPr sz="2200" b="1" i="0">
                <a:solidFill>
                  <a:srgbClr val="1A1A1A"/>
                </a:solidFill>
                <a:latin typeface="Caveat"/>
              </a:defRPr>
            </a:pPr>
            <a:r>
              <a:t>Projection + Displays</a:t>
            </a:r>
          </a:p>
        </p:txBody>
      </p:sp>
      <p:sp>
        <p:nvSpPr>
          <p:cNvPr id="36" name="TextBox 35"/>
          <p:cNvSpPr txBox="1"/>
          <p:nvPr/>
        </p:nvSpPr>
        <p:spPr>
          <a:xfrm>
            <a:off x="8321040" y="2057400"/>
            <a:ext cx="3383279" cy="182880"/>
          </a:xfrm>
          <a:prstGeom prst="rect">
            <a:avLst/>
          </a:prstGeom>
          <a:noFill/>
        </p:spPr>
        <p:txBody>
          <a:bodyPr wrap="square">
            <a:spAutoFit/>
          </a:bodyPr>
          <a:lstStyle/>
          <a:p>
            <a:pPr algn="l">
              <a:defRPr sz="1200" b="1" i="0">
                <a:solidFill>
                  <a:srgbClr val="1A1A1A"/>
                </a:solidFill>
                <a:latin typeface="Quicksand"/>
              </a:defRPr>
            </a:pPr>
            <a:r>
              <a:t>Top-down projector</a:t>
            </a:r>
          </a:p>
        </p:txBody>
      </p:sp>
      <p:sp>
        <p:nvSpPr>
          <p:cNvPr id="37" name="TextBox 36"/>
          <p:cNvSpPr txBox="1"/>
          <p:nvPr/>
        </p:nvSpPr>
        <p:spPr>
          <a:xfrm>
            <a:off x="8321040" y="2258568"/>
            <a:ext cx="3383279" cy="182880"/>
          </a:xfrm>
          <a:prstGeom prst="rect">
            <a:avLst/>
          </a:prstGeom>
          <a:noFill/>
        </p:spPr>
        <p:txBody>
          <a:bodyPr wrap="square">
            <a:spAutoFit/>
          </a:bodyPr>
          <a:lstStyle/>
          <a:p>
            <a:pPr algn="l">
              <a:defRPr sz="1000" b="0" i="0">
                <a:solidFill>
                  <a:srgbClr val="4A4A4A"/>
                </a:solidFill>
                <a:latin typeface="Quicksand"/>
              </a:defRPr>
            </a:pPr>
            <a:r>
              <a:t>Footprint visualization on table</a:t>
            </a:r>
          </a:p>
        </p:txBody>
      </p:sp>
      <p:sp>
        <p:nvSpPr>
          <p:cNvPr id="38" name="TextBox 37"/>
          <p:cNvSpPr txBox="1"/>
          <p:nvPr/>
        </p:nvSpPr>
        <p:spPr>
          <a:xfrm>
            <a:off x="8321040" y="2651760"/>
            <a:ext cx="3383279" cy="182880"/>
          </a:xfrm>
          <a:prstGeom prst="rect">
            <a:avLst/>
          </a:prstGeom>
          <a:noFill/>
        </p:spPr>
        <p:txBody>
          <a:bodyPr wrap="square">
            <a:spAutoFit/>
          </a:bodyPr>
          <a:lstStyle/>
          <a:p>
            <a:pPr algn="l">
              <a:defRPr sz="1200" b="1" i="0">
                <a:solidFill>
                  <a:srgbClr val="1A1A1A"/>
                </a:solidFill>
                <a:latin typeface="Quicksand"/>
              </a:defRPr>
            </a:pPr>
            <a:r>
              <a:t>Phase animations</a:t>
            </a:r>
          </a:p>
        </p:txBody>
      </p:sp>
      <p:sp>
        <p:nvSpPr>
          <p:cNvPr id="39" name="TextBox 38"/>
          <p:cNvSpPr txBox="1"/>
          <p:nvPr/>
        </p:nvSpPr>
        <p:spPr>
          <a:xfrm>
            <a:off x="8321040" y="2852928"/>
            <a:ext cx="3383279" cy="182880"/>
          </a:xfrm>
          <a:prstGeom prst="rect">
            <a:avLst/>
          </a:prstGeom>
          <a:noFill/>
        </p:spPr>
        <p:txBody>
          <a:bodyPr wrap="square">
            <a:spAutoFit/>
          </a:bodyPr>
          <a:lstStyle/>
          <a:p>
            <a:pPr algn="l">
              <a:defRPr sz="1000" b="0" i="0">
                <a:solidFill>
                  <a:srgbClr val="4A4A4A"/>
                </a:solidFill>
                <a:latin typeface="Quicksand"/>
              </a:defRPr>
            </a:pPr>
            <a:r>
              <a:t>AI-generated construction sequences</a:t>
            </a:r>
          </a:p>
        </p:txBody>
      </p:sp>
      <p:sp>
        <p:nvSpPr>
          <p:cNvPr id="40" name="TextBox 39"/>
          <p:cNvSpPr txBox="1"/>
          <p:nvPr/>
        </p:nvSpPr>
        <p:spPr>
          <a:xfrm>
            <a:off x="8321040" y="3246120"/>
            <a:ext cx="3383279" cy="182880"/>
          </a:xfrm>
          <a:prstGeom prst="rect">
            <a:avLst/>
          </a:prstGeom>
          <a:noFill/>
        </p:spPr>
        <p:txBody>
          <a:bodyPr wrap="square">
            <a:spAutoFit/>
          </a:bodyPr>
          <a:lstStyle/>
          <a:p>
            <a:pPr algn="l">
              <a:defRPr sz="1200" b="1" i="0">
                <a:solidFill>
                  <a:srgbClr val="1A1A1A"/>
                </a:solidFill>
                <a:latin typeface="Quicksand"/>
              </a:defRPr>
            </a:pPr>
            <a:r>
              <a:t>Data per phase</a:t>
            </a:r>
          </a:p>
        </p:txBody>
      </p:sp>
      <p:sp>
        <p:nvSpPr>
          <p:cNvPr id="41" name="TextBox 40"/>
          <p:cNvSpPr txBox="1"/>
          <p:nvPr/>
        </p:nvSpPr>
        <p:spPr>
          <a:xfrm>
            <a:off x="8321040" y="3447288"/>
            <a:ext cx="3383279" cy="182880"/>
          </a:xfrm>
          <a:prstGeom prst="rect">
            <a:avLst/>
          </a:prstGeom>
          <a:noFill/>
        </p:spPr>
        <p:txBody>
          <a:bodyPr wrap="square">
            <a:spAutoFit/>
          </a:bodyPr>
          <a:lstStyle/>
          <a:p>
            <a:pPr algn="l">
              <a:defRPr sz="1000" b="0" i="0">
                <a:solidFill>
                  <a:srgbClr val="4A4A4A"/>
                </a:solidFill>
                <a:latin typeface="Quicksand"/>
              </a:defRPr>
            </a:pPr>
            <a:r>
              <a:t>CO₂, cost, labor, time, materials</a:t>
            </a:r>
          </a:p>
        </p:txBody>
      </p:sp>
      <p:sp>
        <p:nvSpPr>
          <p:cNvPr id="42" name="TextBox 41"/>
          <p:cNvSpPr txBox="1"/>
          <p:nvPr/>
        </p:nvSpPr>
        <p:spPr>
          <a:xfrm>
            <a:off x="8321040" y="3840480"/>
            <a:ext cx="3383279" cy="182880"/>
          </a:xfrm>
          <a:prstGeom prst="rect">
            <a:avLst/>
          </a:prstGeom>
          <a:noFill/>
        </p:spPr>
        <p:txBody>
          <a:bodyPr wrap="square">
            <a:spAutoFit/>
          </a:bodyPr>
          <a:lstStyle/>
          <a:p>
            <a:pPr algn="l">
              <a:defRPr sz="1200" b="1" i="0">
                <a:solidFill>
                  <a:srgbClr val="1A1A1A"/>
                </a:solidFill>
                <a:latin typeface="Quicksand"/>
              </a:defRPr>
            </a:pPr>
            <a:r>
              <a:t>Comparison view</a:t>
            </a:r>
          </a:p>
        </p:txBody>
      </p:sp>
      <p:sp>
        <p:nvSpPr>
          <p:cNvPr id="43" name="TextBox 42"/>
          <p:cNvSpPr txBox="1"/>
          <p:nvPr/>
        </p:nvSpPr>
        <p:spPr>
          <a:xfrm>
            <a:off x="8321040" y="4041648"/>
            <a:ext cx="3383279" cy="182880"/>
          </a:xfrm>
          <a:prstGeom prst="rect">
            <a:avLst/>
          </a:prstGeom>
          <a:noFill/>
        </p:spPr>
        <p:txBody>
          <a:bodyPr wrap="square">
            <a:spAutoFit/>
          </a:bodyPr>
          <a:lstStyle/>
          <a:p>
            <a:pPr algn="l">
              <a:defRPr sz="1000" b="0" i="0">
                <a:solidFill>
                  <a:srgbClr val="4A4A4A"/>
                </a:solidFill>
                <a:latin typeface="Quicksand"/>
              </a:defRPr>
            </a:pPr>
            <a:r>
              <a:t>Side-by-side multi-build dashboard</a:t>
            </a:r>
          </a:p>
        </p:txBody>
      </p:sp>
      <p:sp>
        <p:nvSpPr>
          <p:cNvPr id="44" name="TextBox 43"/>
          <p:cNvSpPr txBox="1"/>
          <p:nvPr/>
        </p:nvSpPr>
        <p:spPr>
          <a:xfrm>
            <a:off x="8321040" y="4434840"/>
            <a:ext cx="3383279" cy="182880"/>
          </a:xfrm>
          <a:prstGeom prst="rect">
            <a:avLst/>
          </a:prstGeom>
          <a:noFill/>
        </p:spPr>
        <p:txBody>
          <a:bodyPr wrap="square">
            <a:spAutoFit/>
          </a:bodyPr>
          <a:lstStyle/>
          <a:p>
            <a:pPr algn="l">
              <a:defRPr sz="1200" b="1" i="0">
                <a:solidFill>
                  <a:srgbClr val="1A1A1A"/>
                </a:solidFill>
                <a:latin typeface="Quicksand"/>
              </a:defRPr>
            </a:pPr>
            <a:r>
              <a:t>Projection on models</a:t>
            </a:r>
          </a:p>
        </p:txBody>
      </p:sp>
      <p:sp>
        <p:nvSpPr>
          <p:cNvPr id="45" name="TextBox 44"/>
          <p:cNvSpPr txBox="1"/>
          <p:nvPr/>
        </p:nvSpPr>
        <p:spPr>
          <a:xfrm>
            <a:off x="8321040" y="4636008"/>
            <a:ext cx="3383279" cy="182880"/>
          </a:xfrm>
          <a:prstGeom prst="rect">
            <a:avLst/>
          </a:prstGeom>
          <a:noFill/>
        </p:spPr>
        <p:txBody>
          <a:bodyPr wrap="square">
            <a:spAutoFit/>
          </a:bodyPr>
          <a:lstStyle/>
          <a:p>
            <a:pPr algn="l">
              <a:defRPr sz="1000" b="0" i="0">
                <a:solidFill>
                  <a:srgbClr val="4A4A4A"/>
                </a:solidFill>
                <a:latin typeface="Quicksand"/>
              </a:defRPr>
            </a:pPr>
            <a:r>
              <a:t>3D models fill up during phases</a:t>
            </a:r>
          </a:p>
        </p:txBody>
      </p:sp>
      <p:sp>
        <p:nvSpPr>
          <p:cNvPr id="46" name="TextBox 45"/>
          <p:cNvSpPr txBox="1"/>
          <p:nvPr/>
        </p:nvSpPr>
        <p:spPr>
          <a:xfrm>
            <a:off x="3931920" y="3200400"/>
            <a:ext cx="274320" cy="457200"/>
          </a:xfrm>
          <a:prstGeom prst="rect">
            <a:avLst/>
          </a:prstGeom>
          <a:noFill/>
        </p:spPr>
        <p:txBody>
          <a:bodyPr wrap="square">
            <a:spAutoFit/>
          </a:bodyPr>
          <a:lstStyle/>
          <a:p>
            <a:pPr algn="l">
              <a:defRPr sz="2800" b="0" i="0">
                <a:solidFill>
                  <a:srgbClr val="9A9A9E"/>
                </a:solidFill>
                <a:latin typeface="Caveat"/>
              </a:defRPr>
            </a:pPr>
            <a:r>
              <a:t>→</a:t>
            </a:r>
          </a:p>
        </p:txBody>
      </p:sp>
      <p:sp>
        <p:nvSpPr>
          <p:cNvPr id="47" name="TextBox 46"/>
          <p:cNvSpPr txBox="1"/>
          <p:nvPr/>
        </p:nvSpPr>
        <p:spPr>
          <a:xfrm>
            <a:off x="7863840" y="3200400"/>
            <a:ext cx="274320" cy="457200"/>
          </a:xfrm>
          <a:prstGeom prst="rect">
            <a:avLst/>
          </a:prstGeom>
          <a:noFill/>
        </p:spPr>
        <p:txBody>
          <a:bodyPr wrap="square">
            <a:spAutoFit/>
          </a:bodyPr>
          <a:lstStyle/>
          <a:p>
            <a:pPr algn="l">
              <a:defRPr sz="2800" b="0" i="0">
                <a:solidFill>
                  <a:srgbClr val="9A9A9E"/>
                </a:solidFill>
                <a:latin typeface="Caveat"/>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10515600" y="182880"/>
            <a:ext cx="1371600" cy="914400"/>
          </a:xfrm>
          <a:prstGeom prst="rect">
            <a:avLst/>
          </a:prstGeom>
          <a:noFill/>
        </p:spPr>
        <p:txBody>
          <a:bodyPr wrap="square">
            <a:spAutoFit/>
          </a:bodyPr>
          <a:lstStyle/>
          <a:p>
            <a:pPr algn="r">
              <a:defRPr sz="6000" b="1" i="0">
                <a:solidFill>
                  <a:srgbClr val="E8E8E0"/>
                </a:solidFill>
                <a:latin typeface="Caveat"/>
              </a:defRPr>
            </a:pPr>
            <a:r>
              <a:t>04</a:t>
            </a:r>
          </a:p>
        </p:txBody>
      </p:sp>
      <p:sp>
        <p:nvSpPr>
          <p:cNvPr id="3" name="TextBox 2"/>
          <p:cNvSpPr txBox="1"/>
          <p:nvPr/>
        </p:nvSpPr>
        <p:spPr>
          <a:xfrm>
            <a:off x="457200" y="6400800"/>
            <a:ext cx="5486400" cy="274320"/>
          </a:xfrm>
          <a:prstGeom prst="rect">
            <a:avLst/>
          </a:prstGeom>
          <a:noFill/>
        </p:spPr>
        <p:txBody>
          <a:bodyPr wrap="square">
            <a:spAutoFit/>
          </a:bodyPr>
          <a:lstStyle/>
          <a:p>
            <a:pPr algn="l">
              <a:defRPr sz="800" b="0" i="0">
                <a:solidFill>
                  <a:srgbClr val="9A9A9E"/>
                </a:solidFill>
                <a:latin typeface="Quicksand"/>
              </a:defRPr>
            </a:pPr>
            <a:r>
              <a:t>Hardware III — IAAC MRAC+MAAI 2025/2026</a:t>
            </a:r>
          </a:p>
        </p:txBody>
      </p:sp>
      <p:sp>
        <p:nvSpPr>
          <p:cNvPr id="4" name="TextBox 3"/>
          <p:cNvSpPr txBox="1"/>
          <p:nvPr/>
        </p:nvSpPr>
        <p:spPr>
          <a:xfrm>
            <a:off x="10515600" y="6400800"/>
            <a:ext cx="1371600" cy="274320"/>
          </a:xfrm>
          <a:prstGeom prst="rect">
            <a:avLst/>
          </a:prstGeom>
          <a:noFill/>
        </p:spPr>
        <p:txBody>
          <a:bodyPr wrap="square">
            <a:spAutoFit/>
          </a:bodyPr>
          <a:lstStyle/>
          <a:p>
            <a:pPr algn="r">
              <a:defRPr sz="800" b="0" i="0">
                <a:solidFill>
                  <a:srgbClr val="9A9A9E"/>
                </a:solidFill>
                <a:latin typeface="Quicksand"/>
              </a:defRPr>
            </a:pPr>
            <a:r>
              <a:t>4 / 5</a:t>
            </a:r>
          </a:p>
        </p:txBody>
      </p:sp>
      <p:sp>
        <p:nvSpPr>
          <p:cNvPr id="5" name="TextBox 4"/>
          <p:cNvSpPr txBox="1"/>
          <p:nvPr/>
        </p:nvSpPr>
        <p:spPr>
          <a:xfrm>
            <a:off x="548640" y="274320"/>
            <a:ext cx="9144000" cy="822960"/>
          </a:xfrm>
          <a:prstGeom prst="rect">
            <a:avLst/>
          </a:prstGeom>
          <a:noFill/>
        </p:spPr>
        <p:txBody>
          <a:bodyPr wrap="square">
            <a:spAutoFit/>
          </a:bodyPr>
          <a:lstStyle/>
          <a:p>
            <a:pPr algn="l">
              <a:defRPr sz="4400" b="1" i="0">
                <a:solidFill>
                  <a:srgbClr val="1A1A1A"/>
                </a:solidFill>
                <a:latin typeface="Caveat"/>
              </a:defRPr>
            </a:pPr>
            <a:r>
              <a:t>Finite State Machine</a:t>
            </a:r>
          </a:p>
        </p:txBody>
      </p:sp>
      <p:sp>
        <p:nvSpPr>
          <p:cNvPr id="6" name="TextBox 5"/>
          <p:cNvSpPr txBox="1"/>
          <p:nvPr/>
        </p:nvSpPr>
        <p:spPr>
          <a:xfrm>
            <a:off x="548640" y="960120"/>
            <a:ext cx="9144000" cy="274320"/>
          </a:xfrm>
          <a:prstGeom prst="rect">
            <a:avLst/>
          </a:prstGeom>
          <a:noFill/>
        </p:spPr>
        <p:txBody>
          <a:bodyPr wrap="square">
            <a:spAutoFit/>
          </a:bodyPr>
          <a:lstStyle/>
          <a:p>
            <a:pPr algn="l">
              <a:defRPr sz="1300" b="0" i="0">
                <a:solidFill>
                  <a:srgbClr val="9A9A9E"/>
                </a:solidFill>
                <a:latin typeface="Quicksand"/>
              </a:defRPr>
            </a:pPr>
            <a:r>
              <a:t>10 states — user configures building → system validates → guided phases → compare</a:t>
            </a:r>
          </a:p>
        </p:txBody>
      </p:sp>
      <p:sp>
        <p:nvSpPr>
          <p:cNvPr id="7" name="Rounded Rectangle 6"/>
          <p:cNvSpPr/>
          <p:nvPr/>
        </p:nvSpPr>
        <p:spPr>
          <a:xfrm rot="21582000">
            <a:off x="457200" y="1554480"/>
            <a:ext cx="2286000" cy="109728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2103120" cy="457200"/>
          </a:xfrm>
          <a:prstGeom prst="rect">
            <a:avLst/>
          </a:prstGeom>
          <a:noFill/>
        </p:spPr>
        <p:txBody>
          <a:bodyPr wrap="square">
            <a:spAutoFit/>
          </a:bodyPr>
          <a:lstStyle/>
          <a:p>
            <a:pPr algn="ctr">
              <a:defRPr sz="1500" b="1" i="0">
                <a:solidFill>
                  <a:srgbClr val="1A1A1A"/>
                </a:solidFill>
                <a:latin typeface="Caveat"/>
              </a:defRPr>
            </a:pPr>
            <a:r>
              <a:t>IDLE</a:t>
            </a:r>
          </a:p>
        </p:txBody>
      </p:sp>
      <p:sp>
        <p:nvSpPr>
          <p:cNvPr id="9" name="TextBox 8"/>
          <p:cNvSpPr txBox="1"/>
          <p:nvPr/>
        </p:nvSpPr>
        <p:spPr>
          <a:xfrm>
            <a:off x="548640" y="2103120"/>
            <a:ext cx="2103120" cy="457200"/>
          </a:xfrm>
          <a:prstGeom prst="rect">
            <a:avLst/>
          </a:prstGeom>
          <a:noFill/>
        </p:spPr>
        <p:txBody>
          <a:bodyPr wrap="square">
            <a:spAutoFit/>
          </a:bodyPr>
          <a:lstStyle/>
          <a:p>
            <a:pPr algn="ctr">
              <a:defRPr sz="900" b="0" i="0">
                <a:solidFill>
                  <a:srgbClr val="4A4A4A"/>
                </a:solidFill>
                <a:latin typeface="Quicksand"/>
              </a:defRPr>
            </a:pPr>
            <a:r>
              <a:t>Waiting for user</a:t>
            </a:r>
          </a:p>
        </p:txBody>
      </p:sp>
      <p:sp>
        <p:nvSpPr>
          <p:cNvPr id="10" name="TextBox 9"/>
          <p:cNvSpPr txBox="1"/>
          <p:nvPr/>
        </p:nvSpPr>
        <p:spPr>
          <a:xfrm>
            <a:off x="2743200" y="1920240"/>
            <a:ext cx="548640" cy="274320"/>
          </a:xfrm>
          <a:prstGeom prst="rect">
            <a:avLst/>
          </a:prstGeom>
          <a:noFill/>
        </p:spPr>
        <p:txBody>
          <a:bodyPr wrap="square">
            <a:spAutoFit/>
          </a:bodyPr>
          <a:lstStyle/>
          <a:p>
            <a:pPr algn="l">
              <a:defRPr sz="1000" b="0" i="0">
                <a:solidFill>
                  <a:srgbClr val="9A9A9E"/>
                </a:solidFill>
                <a:latin typeface="Caveat"/>
              </a:defRPr>
            </a:pPr>
            <a:r>
              <a:t>—RFID→</a:t>
            </a:r>
          </a:p>
        </p:txBody>
      </p:sp>
      <p:sp>
        <p:nvSpPr>
          <p:cNvPr id="11" name="Rounded Rectangle 10"/>
          <p:cNvSpPr/>
          <p:nvPr/>
        </p:nvSpPr>
        <p:spPr>
          <a:xfrm rot="21582000">
            <a:off x="3291840" y="1554480"/>
            <a:ext cx="2286000" cy="1097280"/>
          </a:xfrm>
          <a:prstGeom prst="roundRect">
            <a:avLst/>
          </a:prstGeom>
          <a:solidFill>
            <a:srgbClr val="1A1A1A"/>
          </a:solid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627632"/>
            <a:ext cx="2103120" cy="457200"/>
          </a:xfrm>
          <a:prstGeom prst="rect">
            <a:avLst/>
          </a:prstGeom>
          <a:noFill/>
        </p:spPr>
        <p:txBody>
          <a:bodyPr wrap="square">
            <a:spAutoFit/>
          </a:bodyPr>
          <a:lstStyle/>
          <a:p>
            <a:pPr algn="ctr">
              <a:defRPr sz="1500" b="1" i="0">
                <a:solidFill>
                  <a:srgbClr val="FFFFFF"/>
                </a:solidFill>
                <a:latin typeface="Caveat"/>
              </a:defRPr>
            </a:pPr>
            <a:r>
              <a:t>METHOD SELECTED</a:t>
            </a:r>
          </a:p>
        </p:txBody>
      </p:sp>
      <p:sp>
        <p:nvSpPr>
          <p:cNvPr id="13" name="TextBox 12"/>
          <p:cNvSpPr txBox="1"/>
          <p:nvPr/>
        </p:nvSpPr>
        <p:spPr>
          <a:xfrm>
            <a:off x="3383280" y="2103120"/>
            <a:ext cx="2103120" cy="457200"/>
          </a:xfrm>
          <a:prstGeom prst="rect">
            <a:avLst/>
          </a:prstGeom>
          <a:noFill/>
        </p:spPr>
        <p:txBody>
          <a:bodyPr wrap="square">
            <a:spAutoFit/>
          </a:bodyPr>
          <a:lstStyle/>
          <a:p>
            <a:pPr algn="ctr">
              <a:defRPr sz="900" b="0" i="0">
                <a:solidFill>
                  <a:srgbClr val="9A9A9E"/>
                </a:solidFill>
                <a:latin typeface="Quicksand"/>
              </a:defRPr>
            </a:pPr>
            <a:r>
              <a:t>RFID pedestal triggers</a:t>
            </a:r>
          </a:p>
        </p:txBody>
      </p:sp>
      <p:sp>
        <p:nvSpPr>
          <p:cNvPr id="14" name="TextBox 13"/>
          <p:cNvSpPr txBox="1"/>
          <p:nvPr/>
        </p:nvSpPr>
        <p:spPr>
          <a:xfrm>
            <a:off x="5577840" y="1920240"/>
            <a:ext cx="548640" cy="274320"/>
          </a:xfrm>
          <a:prstGeom prst="rect">
            <a:avLst/>
          </a:prstGeom>
          <a:noFill/>
        </p:spPr>
        <p:txBody>
          <a:bodyPr wrap="square">
            <a:spAutoFit/>
          </a:bodyPr>
          <a:lstStyle/>
          <a:p>
            <a:pPr algn="l">
              <a:defRPr sz="1000" b="0" i="0">
                <a:solidFill>
                  <a:srgbClr val="9A9A9E"/>
                </a:solidFill>
                <a:latin typeface="Caveat"/>
              </a:defRPr>
            </a:pPr>
            <a:r>
              <a:t>—pucks placed→</a:t>
            </a:r>
          </a:p>
        </p:txBody>
      </p:sp>
      <p:sp>
        <p:nvSpPr>
          <p:cNvPr id="15" name="Rounded Rectangle 14"/>
          <p:cNvSpPr/>
          <p:nvPr/>
        </p:nvSpPr>
        <p:spPr>
          <a:xfrm rot="21582000">
            <a:off x="6126480" y="1554480"/>
            <a:ext cx="2286000" cy="109728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627632"/>
            <a:ext cx="2103120" cy="457200"/>
          </a:xfrm>
          <a:prstGeom prst="rect">
            <a:avLst/>
          </a:prstGeom>
          <a:noFill/>
        </p:spPr>
        <p:txBody>
          <a:bodyPr wrap="square">
            <a:spAutoFit/>
          </a:bodyPr>
          <a:lstStyle/>
          <a:p>
            <a:pPr algn="ctr">
              <a:defRPr sz="1500" b="1" i="0">
                <a:solidFill>
                  <a:srgbClr val="1A1A1A"/>
                </a:solidFill>
                <a:latin typeface="Caveat"/>
              </a:defRPr>
            </a:pPr>
            <a:r>
              <a:t>FOOTPRINT DEFINED</a:t>
            </a:r>
          </a:p>
        </p:txBody>
      </p:sp>
      <p:sp>
        <p:nvSpPr>
          <p:cNvPr id="17" name="TextBox 16"/>
          <p:cNvSpPr txBox="1"/>
          <p:nvPr/>
        </p:nvSpPr>
        <p:spPr>
          <a:xfrm>
            <a:off x="6217920" y="2103120"/>
            <a:ext cx="2103120" cy="457200"/>
          </a:xfrm>
          <a:prstGeom prst="rect">
            <a:avLst/>
          </a:prstGeom>
          <a:noFill/>
        </p:spPr>
        <p:txBody>
          <a:bodyPr wrap="square">
            <a:spAutoFit/>
          </a:bodyPr>
          <a:lstStyle/>
          <a:p>
            <a:pPr algn="ctr">
              <a:defRPr sz="900" b="0" i="0">
                <a:solidFill>
                  <a:srgbClr val="4A4A4A"/>
                </a:solidFill>
                <a:latin typeface="Quicksand"/>
              </a:defRPr>
            </a:pPr>
            <a:r>
              <a:t>10 pucks define plan</a:t>
            </a:r>
          </a:p>
        </p:txBody>
      </p:sp>
      <p:sp>
        <p:nvSpPr>
          <p:cNvPr id="18" name="TextBox 17"/>
          <p:cNvSpPr txBox="1"/>
          <p:nvPr/>
        </p:nvSpPr>
        <p:spPr>
          <a:xfrm>
            <a:off x="8412480" y="1920240"/>
            <a:ext cx="548640" cy="274320"/>
          </a:xfrm>
          <a:prstGeom prst="rect">
            <a:avLst/>
          </a:prstGeom>
          <a:noFill/>
        </p:spPr>
        <p:txBody>
          <a:bodyPr wrap="square">
            <a:spAutoFit/>
          </a:bodyPr>
          <a:lstStyle/>
          <a:p>
            <a:pPr algn="l">
              <a:defRPr sz="1000" b="0" i="0">
                <a:solidFill>
                  <a:srgbClr val="9A9A9E"/>
                </a:solidFill>
                <a:latin typeface="Caveat"/>
              </a:defRPr>
            </a:pPr>
            <a:r>
              <a:t>—height set→</a:t>
            </a:r>
          </a:p>
        </p:txBody>
      </p:sp>
      <p:sp>
        <p:nvSpPr>
          <p:cNvPr id="19" name="Rounded Rectangle 18"/>
          <p:cNvSpPr/>
          <p:nvPr/>
        </p:nvSpPr>
        <p:spPr>
          <a:xfrm rot="21582000">
            <a:off x="8961120" y="1554480"/>
            <a:ext cx="2286000" cy="109728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0" y="1627632"/>
            <a:ext cx="2103120" cy="457200"/>
          </a:xfrm>
          <a:prstGeom prst="rect">
            <a:avLst/>
          </a:prstGeom>
          <a:noFill/>
        </p:spPr>
        <p:txBody>
          <a:bodyPr wrap="square">
            <a:spAutoFit/>
          </a:bodyPr>
          <a:lstStyle/>
          <a:p>
            <a:pPr algn="ctr">
              <a:defRPr sz="1500" b="1" i="0">
                <a:solidFill>
                  <a:srgbClr val="1A1A1A"/>
                </a:solidFill>
                <a:latin typeface="Caveat"/>
              </a:defRPr>
            </a:pPr>
            <a:r>
              <a:t>HEIGHT SET</a:t>
            </a:r>
          </a:p>
        </p:txBody>
      </p:sp>
      <p:sp>
        <p:nvSpPr>
          <p:cNvPr id="21" name="TextBox 20"/>
          <p:cNvSpPr txBox="1"/>
          <p:nvPr/>
        </p:nvSpPr>
        <p:spPr>
          <a:xfrm>
            <a:off x="9052560" y="2103120"/>
            <a:ext cx="2103120" cy="457200"/>
          </a:xfrm>
          <a:prstGeom prst="rect">
            <a:avLst/>
          </a:prstGeom>
          <a:noFill/>
        </p:spPr>
        <p:txBody>
          <a:bodyPr wrap="square">
            <a:spAutoFit/>
          </a:bodyPr>
          <a:lstStyle/>
          <a:p>
            <a:pPr algn="ctr">
              <a:defRPr sz="900" b="0" i="0">
                <a:solidFill>
                  <a:srgbClr val="4A4A4A"/>
                </a:solidFill>
                <a:latin typeface="Quicksand"/>
              </a:defRPr>
            </a:pPr>
            <a:r>
              <a:t>Floor marker placed</a:t>
            </a:r>
          </a:p>
        </p:txBody>
      </p:sp>
      <p:sp>
        <p:nvSpPr>
          <p:cNvPr id="22" name="Rounded Rectangle 21"/>
          <p:cNvSpPr/>
          <p:nvPr/>
        </p:nvSpPr>
        <p:spPr>
          <a:xfrm rot="21582000">
            <a:off x="457200" y="3017520"/>
            <a:ext cx="2286000" cy="109728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090672"/>
            <a:ext cx="2103120" cy="457200"/>
          </a:xfrm>
          <a:prstGeom prst="rect">
            <a:avLst/>
          </a:prstGeom>
          <a:noFill/>
        </p:spPr>
        <p:txBody>
          <a:bodyPr wrap="square">
            <a:spAutoFit/>
          </a:bodyPr>
          <a:lstStyle/>
          <a:p>
            <a:pPr algn="ctr">
              <a:defRPr sz="1500" b="1" i="0">
                <a:solidFill>
                  <a:srgbClr val="1A1A1A"/>
                </a:solidFill>
                <a:latin typeface="Caveat"/>
              </a:defRPr>
            </a:pPr>
            <a:r>
              <a:t>MATERIALS CHOSEN</a:t>
            </a:r>
          </a:p>
        </p:txBody>
      </p:sp>
      <p:sp>
        <p:nvSpPr>
          <p:cNvPr id="24" name="TextBox 23"/>
          <p:cNvSpPr txBox="1"/>
          <p:nvPr/>
        </p:nvSpPr>
        <p:spPr>
          <a:xfrm>
            <a:off x="548640" y="3566160"/>
            <a:ext cx="2103120" cy="457200"/>
          </a:xfrm>
          <a:prstGeom prst="rect">
            <a:avLst/>
          </a:prstGeom>
          <a:noFill/>
        </p:spPr>
        <p:txBody>
          <a:bodyPr wrap="square">
            <a:spAutoFit/>
          </a:bodyPr>
          <a:lstStyle/>
          <a:p>
            <a:pPr algn="ctr">
              <a:defRPr sz="900" b="0" i="0">
                <a:solidFill>
                  <a:srgbClr val="4A4A4A"/>
                </a:solidFill>
                <a:latin typeface="Quicksand"/>
              </a:defRPr>
            </a:pPr>
            <a:r>
              <a:t>Material controller sets options</a:t>
            </a:r>
          </a:p>
        </p:txBody>
      </p:sp>
      <p:sp>
        <p:nvSpPr>
          <p:cNvPr id="25" name="TextBox 24"/>
          <p:cNvSpPr txBox="1"/>
          <p:nvPr/>
        </p:nvSpPr>
        <p:spPr>
          <a:xfrm>
            <a:off x="2743200" y="3383280"/>
            <a:ext cx="548640" cy="274320"/>
          </a:xfrm>
          <a:prstGeom prst="rect">
            <a:avLst/>
          </a:prstGeom>
          <a:noFill/>
        </p:spPr>
        <p:txBody>
          <a:bodyPr wrap="square">
            <a:spAutoFit/>
          </a:bodyPr>
          <a:lstStyle/>
          <a:p>
            <a:pPr algn="l">
              <a:defRPr sz="1000" b="0" i="0">
                <a:solidFill>
                  <a:srgbClr val="9A9A9E"/>
                </a:solidFill>
                <a:latin typeface="Caveat"/>
              </a:defRPr>
            </a:pPr>
            <a:r>
              <a:t>—validates→</a:t>
            </a:r>
          </a:p>
        </p:txBody>
      </p:sp>
      <p:sp>
        <p:nvSpPr>
          <p:cNvPr id="26" name="Rounded Rectangle 25"/>
          <p:cNvSpPr/>
          <p:nvPr/>
        </p:nvSpPr>
        <p:spPr>
          <a:xfrm rot="21582000">
            <a:off x="3291840" y="3017520"/>
            <a:ext cx="2286000" cy="1097280"/>
          </a:xfrm>
          <a:prstGeom prst="roundRect">
            <a:avLst/>
          </a:prstGeom>
          <a:solidFill>
            <a:srgbClr val="1A1A1A"/>
          </a:solid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83280" y="3090672"/>
            <a:ext cx="2103120" cy="457200"/>
          </a:xfrm>
          <a:prstGeom prst="rect">
            <a:avLst/>
          </a:prstGeom>
          <a:noFill/>
        </p:spPr>
        <p:txBody>
          <a:bodyPr wrap="square">
            <a:spAutoFit/>
          </a:bodyPr>
          <a:lstStyle/>
          <a:p>
            <a:pPr algn="ctr">
              <a:defRPr sz="1500" b="1" i="0">
                <a:solidFill>
                  <a:srgbClr val="FFFFFF"/>
                </a:solidFill>
                <a:latin typeface="Caveat"/>
              </a:defRPr>
            </a:pPr>
            <a:r>
              <a:t>VALIDATED</a:t>
            </a:r>
          </a:p>
        </p:txBody>
      </p:sp>
      <p:sp>
        <p:nvSpPr>
          <p:cNvPr id="28" name="TextBox 27"/>
          <p:cNvSpPr txBox="1"/>
          <p:nvPr/>
        </p:nvSpPr>
        <p:spPr>
          <a:xfrm>
            <a:off x="3383280" y="3566160"/>
            <a:ext cx="2103120" cy="457200"/>
          </a:xfrm>
          <a:prstGeom prst="rect">
            <a:avLst/>
          </a:prstGeom>
          <a:noFill/>
        </p:spPr>
        <p:txBody>
          <a:bodyPr wrap="square">
            <a:spAutoFit/>
          </a:bodyPr>
          <a:lstStyle/>
          <a:p>
            <a:pPr algn="ctr">
              <a:defRPr sz="900" b="0" i="0">
                <a:solidFill>
                  <a:srgbClr val="9A9A9E"/>
                </a:solidFill>
                <a:latin typeface="Quicksand"/>
              </a:defRPr>
            </a:pPr>
            <a:r>
              <a:t>System confirms feasibility</a:t>
            </a:r>
          </a:p>
        </p:txBody>
      </p:sp>
      <p:sp>
        <p:nvSpPr>
          <p:cNvPr id="29" name="TextBox 28"/>
          <p:cNvSpPr txBox="1"/>
          <p:nvPr/>
        </p:nvSpPr>
        <p:spPr>
          <a:xfrm>
            <a:off x="5577840" y="3383280"/>
            <a:ext cx="548640" cy="274320"/>
          </a:xfrm>
          <a:prstGeom prst="rect">
            <a:avLst/>
          </a:prstGeom>
          <a:noFill/>
        </p:spPr>
        <p:txBody>
          <a:bodyPr wrap="square">
            <a:spAutoFit/>
          </a:bodyPr>
          <a:lstStyle/>
          <a:p>
            <a:pPr algn="l">
              <a:defRPr sz="1000" b="0" i="0">
                <a:solidFill>
                  <a:srgbClr val="9A9A9E"/>
                </a:solidFill>
                <a:latin typeface="Caveat"/>
              </a:defRPr>
            </a:pPr>
            <a:r>
              <a:t>—begin→</a:t>
            </a:r>
          </a:p>
        </p:txBody>
      </p:sp>
      <p:sp>
        <p:nvSpPr>
          <p:cNvPr id="30" name="Rounded Rectangle 29"/>
          <p:cNvSpPr/>
          <p:nvPr/>
        </p:nvSpPr>
        <p:spPr>
          <a:xfrm rot="21582000">
            <a:off x="6126480" y="3017520"/>
            <a:ext cx="2286000" cy="1097280"/>
          </a:xfrm>
          <a:prstGeom prst="roundRect">
            <a:avLst/>
          </a:prstGeom>
          <a:noFill/>
          <a:ln w="317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3090672"/>
            <a:ext cx="2103120" cy="457200"/>
          </a:xfrm>
          <a:prstGeom prst="rect">
            <a:avLst/>
          </a:prstGeom>
          <a:noFill/>
        </p:spPr>
        <p:txBody>
          <a:bodyPr wrap="square">
            <a:spAutoFit/>
          </a:bodyPr>
          <a:lstStyle/>
          <a:p>
            <a:pPr algn="ctr">
              <a:defRPr sz="1500" b="1" i="0">
                <a:solidFill>
                  <a:srgbClr val="1A1A1A"/>
                </a:solidFill>
                <a:latin typeface="Caveat"/>
              </a:defRPr>
            </a:pPr>
            <a:r>
              <a:t>PHASE DISPLAY</a:t>
            </a:r>
          </a:p>
        </p:txBody>
      </p:sp>
      <p:sp>
        <p:nvSpPr>
          <p:cNvPr id="32" name="TextBox 31"/>
          <p:cNvSpPr txBox="1"/>
          <p:nvPr/>
        </p:nvSpPr>
        <p:spPr>
          <a:xfrm>
            <a:off x="6217920" y="3566160"/>
            <a:ext cx="2103120" cy="457200"/>
          </a:xfrm>
          <a:prstGeom prst="rect">
            <a:avLst/>
          </a:prstGeom>
          <a:noFill/>
        </p:spPr>
        <p:txBody>
          <a:bodyPr wrap="square">
            <a:spAutoFit/>
          </a:bodyPr>
          <a:lstStyle/>
          <a:p>
            <a:pPr algn="ctr">
              <a:defRPr sz="900" b="0" i="0">
                <a:solidFill>
                  <a:srgbClr val="4A4A4A"/>
                </a:solidFill>
                <a:latin typeface="Quicksand"/>
              </a:defRPr>
            </a:pPr>
            <a:r>
              <a:t>Animation plays data shown (×5)</a:t>
            </a:r>
          </a:p>
        </p:txBody>
      </p:sp>
      <p:sp>
        <p:nvSpPr>
          <p:cNvPr id="33" name="TextBox 32"/>
          <p:cNvSpPr txBox="1"/>
          <p:nvPr/>
        </p:nvSpPr>
        <p:spPr>
          <a:xfrm>
            <a:off x="7772400" y="3017520"/>
            <a:ext cx="3200400" cy="274320"/>
          </a:xfrm>
          <a:prstGeom prst="rect">
            <a:avLst/>
          </a:prstGeom>
          <a:noFill/>
        </p:spPr>
        <p:txBody>
          <a:bodyPr wrap="square">
            <a:spAutoFit/>
          </a:bodyPr>
          <a:lstStyle/>
          <a:p>
            <a:pPr algn="l">
              <a:defRPr sz="1000" b="0" i="1">
                <a:solidFill>
                  <a:srgbClr val="4A4A4A"/>
                </a:solidFill>
                <a:latin typeface="Caveat"/>
              </a:defRPr>
            </a:pPr>
            <a:r>
              <a:t>user accepts → next phase (loops ×5)</a:t>
            </a:r>
          </a:p>
        </p:txBody>
      </p:sp>
      <p:sp>
        <p:nvSpPr>
          <p:cNvPr id="34" name="TextBox 33"/>
          <p:cNvSpPr txBox="1"/>
          <p:nvPr/>
        </p:nvSpPr>
        <p:spPr>
          <a:xfrm>
            <a:off x="4754880" y="4206240"/>
            <a:ext cx="1371600" cy="228600"/>
          </a:xfrm>
          <a:prstGeom prst="rect">
            <a:avLst/>
          </a:prstGeom>
          <a:noFill/>
        </p:spPr>
        <p:txBody>
          <a:bodyPr wrap="square">
            <a:spAutoFit/>
          </a:bodyPr>
          <a:lstStyle/>
          <a:p>
            <a:pPr algn="l">
              <a:defRPr sz="1000" b="0" i="0">
                <a:solidFill>
                  <a:srgbClr val="CC3333"/>
                </a:solidFill>
                <a:latin typeface="Caveat"/>
              </a:defRPr>
            </a:pPr>
            <a:r>
              <a:t>↓ not feasible</a:t>
            </a:r>
          </a:p>
        </p:txBody>
      </p:sp>
      <p:sp>
        <p:nvSpPr>
          <p:cNvPr id="35" name="Rounded Rectangle 34"/>
          <p:cNvSpPr/>
          <p:nvPr/>
        </p:nvSpPr>
        <p:spPr>
          <a:xfrm rot="21582000">
            <a:off x="4114800" y="4480560"/>
            <a:ext cx="2286000" cy="731520"/>
          </a:xfrm>
          <a:prstGeom prst="roundRect">
            <a:avLst/>
          </a:prstGeom>
          <a:noFill/>
          <a:ln w="19050">
            <a:solidFill>
              <a:srgbClr val="CC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06240" y="4526280"/>
            <a:ext cx="2103120" cy="320040"/>
          </a:xfrm>
          <a:prstGeom prst="rect">
            <a:avLst/>
          </a:prstGeom>
          <a:noFill/>
        </p:spPr>
        <p:txBody>
          <a:bodyPr wrap="square">
            <a:spAutoFit/>
          </a:bodyPr>
          <a:lstStyle/>
          <a:p>
            <a:pPr algn="ctr">
              <a:defRPr sz="1600" b="1" i="0">
                <a:solidFill>
                  <a:srgbClr val="CC3333"/>
                </a:solidFill>
                <a:latin typeface="Caveat"/>
              </a:defRPr>
            </a:pPr>
            <a:r>
              <a:t>ERROR</a:t>
            </a:r>
          </a:p>
        </p:txBody>
      </p:sp>
      <p:sp>
        <p:nvSpPr>
          <p:cNvPr id="37" name="TextBox 36"/>
          <p:cNvSpPr txBox="1"/>
          <p:nvPr/>
        </p:nvSpPr>
        <p:spPr>
          <a:xfrm>
            <a:off x="4206240" y="4846320"/>
            <a:ext cx="2103120" cy="274320"/>
          </a:xfrm>
          <a:prstGeom prst="rect">
            <a:avLst/>
          </a:prstGeom>
          <a:noFill/>
        </p:spPr>
        <p:txBody>
          <a:bodyPr wrap="square">
            <a:spAutoFit/>
          </a:bodyPr>
          <a:lstStyle/>
          <a:p>
            <a:pPr algn="ctr">
              <a:defRPr sz="900" b="0" i="0">
                <a:solidFill>
                  <a:srgbClr val="CC3333"/>
                </a:solidFill>
                <a:latin typeface="Quicksand"/>
              </a:defRPr>
            </a:pPr>
            <a:r>
              <a:t>Not feasible — adjust parameters</a:t>
            </a:r>
          </a:p>
        </p:txBody>
      </p:sp>
      <p:sp>
        <p:nvSpPr>
          <p:cNvPr id="38" name="TextBox 37"/>
          <p:cNvSpPr txBox="1"/>
          <p:nvPr/>
        </p:nvSpPr>
        <p:spPr>
          <a:xfrm>
            <a:off x="6492240" y="4663440"/>
            <a:ext cx="3200400" cy="228600"/>
          </a:xfrm>
          <a:prstGeom prst="rect">
            <a:avLst/>
          </a:prstGeom>
          <a:noFill/>
        </p:spPr>
        <p:txBody>
          <a:bodyPr wrap="square">
            <a:spAutoFit/>
          </a:bodyPr>
          <a:lstStyle/>
          <a:p>
            <a:pPr algn="l">
              <a:defRPr sz="1000" b="0" i="0">
                <a:solidFill>
                  <a:srgbClr val="CC3333"/>
                </a:solidFill>
                <a:latin typeface="Caveat"/>
              </a:defRPr>
            </a:pPr>
            <a:r>
              <a:t>—adjust→ back to MATERIALS CHOSEN</a:t>
            </a:r>
          </a:p>
        </p:txBody>
      </p:sp>
      <p:sp>
        <p:nvSpPr>
          <p:cNvPr id="39" name="TextBox 38"/>
          <p:cNvSpPr txBox="1"/>
          <p:nvPr/>
        </p:nvSpPr>
        <p:spPr>
          <a:xfrm>
            <a:off x="457200" y="5440680"/>
            <a:ext cx="1828800" cy="228600"/>
          </a:xfrm>
          <a:prstGeom prst="rect">
            <a:avLst/>
          </a:prstGeom>
          <a:noFill/>
        </p:spPr>
        <p:txBody>
          <a:bodyPr wrap="square">
            <a:spAutoFit/>
          </a:bodyPr>
          <a:lstStyle/>
          <a:p>
            <a:pPr algn="l">
              <a:defRPr sz="1000" b="0" i="0">
                <a:solidFill>
                  <a:srgbClr val="9A9A9E"/>
                </a:solidFill>
                <a:latin typeface="Caveat"/>
              </a:defRPr>
            </a:pPr>
            <a:r>
              <a:t>all phases done →</a:t>
            </a:r>
          </a:p>
        </p:txBody>
      </p:sp>
      <p:sp>
        <p:nvSpPr>
          <p:cNvPr id="40" name="Rounded Rectangle 39"/>
          <p:cNvSpPr/>
          <p:nvPr/>
        </p:nvSpPr>
        <p:spPr>
          <a:xfrm rot="21582000">
            <a:off x="2286000" y="5349240"/>
            <a:ext cx="2560320" cy="73152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77440" y="5394960"/>
            <a:ext cx="2377440" cy="320040"/>
          </a:xfrm>
          <a:prstGeom prst="rect">
            <a:avLst/>
          </a:prstGeom>
          <a:noFill/>
        </p:spPr>
        <p:txBody>
          <a:bodyPr wrap="square">
            <a:spAutoFit/>
          </a:bodyPr>
          <a:lstStyle/>
          <a:p>
            <a:pPr algn="ctr">
              <a:defRPr sz="1400" b="1" i="0">
                <a:solidFill>
                  <a:srgbClr val="1A1A1A"/>
                </a:solidFill>
                <a:latin typeface="Caveat"/>
              </a:defRPr>
            </a:pPr>
            <a:r>
              <a:t>BUILDING COMPLETE</a:t>
            </a:r>
          </a:p>
        </p:txBody>
      </p:sp>
      <p:sp>
        <p:nvSpPr>
          <p:cNvPr id="42" name="TextBox 41"/>
          <p:cNvSpPr txBox="1"/>
          <p:nvPr/>
        </p:nvSpPr>
        <p:spPr>
          <a:xfrm>
            <a:off x="2377440" y="5715000"/>
            <a:ext cx="2377440" cy="274320"/>
          </a:xfrm>
          <a:prstGeom prst="rect">
            <a:avLst/>
          </a:prstGeom>
          <a:noFill/>
        </p:spPr>
        <p:txBody>
          <a:bodyPr wrap="square">
            <a:spAutoFit/>
          </a:bodyPr>
          <a:lstStyle/>
          <a:p>
            <a:pPr algn="ctr">
              <a:defRPr sz="900" b="0" i="0">
                <a:solidFill>
                  <a:srgbClr val="4A4A4A"/>
                </a:solidFill>
                <a:latin typeface="Quicksand"/>
              </a:defRPr>
            </a:pPr>
            <a:r>
              <a:t>Final output + save dataset</a:t>
            </a:r>
          </a:p>
        </p:txBody>
      </p:sp>
      <p:sp>
        <p:nvSpPr>
          <p:cNvPr id="43" name="TextBox 42"/>
          <p:cNvSpPr txBox="1"/>
          <p:nvPr/>
        </p:nvSpPr>
        <p:spPr>
          <a:xfrm>
            <a:off x="4892040" y="5577840"/>
            <a:ext cx="548640" cy="228600"/>
          </a:xfrm>
          <a:prstGeom prst="rect">
            <a:avLst/>
          </a:prstGeom>
          <a:noFill/>
        </p:spPr>
        <p:txBody>
          <a:bodyPr wrap="square">
            <a:spAutoFit/>
          </a:bodyPr>
          <a:lstStyle/>
          <a:p>
            <a:pPr algn="l">
              <a:defRPr sz="1000" b="0" i="0">
                <a:solidFill>
                  <a:srgbClr val="9A9A9E"/>
                </a:solidFill>
                <a:latin typeface="Caveat"/>
              </a:defRPr>
            </a:pPr>
            <a:r>
              <a:t>—save→</a:t>
            </a:r>
          </a:p>
        </p:txBody>
      </p:sp>
      <p:sp>
        <p:nvSpPr>
          <p:cNvPr id="44" name="Rounded Rectangle 43"/>
          <p:cNvSpPr/>
          <p:nvPr/>
        </p:nvSpPr>
        <p:spPr>
          <a:xfrm rot="21582000">
            <a:off x="5486400" y="5349240"/>
            <a:ext cx="2286000" cy="731520"/>
          </a:xfrm>
          <a:prstGeom prst="roundRect">
            <a:avLst/>
          </a:prstGeom>
          <a:solidFill>
            <a:srgbClr val="1A1A1A"/>
          </a:solid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77840" y="5394960"/>
            <a:ext cx="2103120" cy="320040"/>
          </a:xfrm>
          <a:prstGeom prst="rect">
            <a:avLst/>
          </a:prstGeom>
          <a:noFill/>
        </p:spPr>
        <p:txBody>
          <a:bodyPr wrap="square">
            <a:spAutoFit/>
          </a:bodyPr>
          <a:lstStyle/>
          <a:p>
            <a:pPr algn="ctr">
              <a:defRPr sz="1400" b="1" i="0">
                <a:solidFill>
                  <a:srgbClr val="FFFFFF"/>
                </a:solidFill>
                <a:latin typeface="Caveat"/>
              </a:defRPr>
            </a:pPr>
            <a:r>
              <a:t>COMPARISON</a:t>
            </a:r>
          </a:p>
        </p:txBody>
      </p:sp>
      <p:sp>
        <p:nvSpPr>
          <p:cNvPr id="46" name="TextBox 45"/>
          <p:cNvSpPr txBox="1"/>
          <p:nvPr/>
        </p:nvSpPr>
        <p:spPr>
          <a:xfrm>
            <a:off x="5577840" y="5715000"/>
            <a:ext cx="2103120" cy="274320"/>
          </a:xfrm>
          <a:prstGeom prst="rect">
            <a:avLst/>
          </a:prstGeom>
          <a:noFill/>
        </p:spPr>
        <p:txBody>
          <a:bodyPr wrap="square">
            <a:spAutoFit/>
          </a:bodyPr>
          <a:lstStyle/>
          <a:p>
            <a:pPr algn="ctr">
              <a:defRPr sz="900" b="0" i="0">
                <a:solidFill>
                  <a:srgbClr val="9A9A9E"/>
                </a:solidFill>
                <a:latin typeface="Quicksand"/>
              </a:defRPr>
            </a:pPr>
            <a:r>
              <a:t>Side-by-side multi-build</a:t>
            </a:r>
          </a:p>
        </p:txBody>
      </p:sp>
      <p:sp>
        <p:nvSpPr>
          <p:cNvPr id="47" name="TextBox 46"/>
          <p:cNvSpPr txBox="1"/>
          <p:nvPr/>
        </p:nvSpPr>
        <p:spPr>
          <a:xfrm>
            <a:off x="7863840" y="5577840"/>
            <a:ext cx="3200400" cy="228600"/>
          </a:xfrm>
          <a:prstGeom prst="rect">
            <a:avLst/>
          </a:prstGeom>
          <a:noFill/>
        </p:spPr>
        <p:txBody>
          <a:bodyPr wrap="square">
            <a:spAutoFit/>
          </a:bodyPr>
          <a:lstStyle/>
          <a:p>
            <a:pPr algn="l">
              <a:defRPr sz="1000" b="0" i="0">
                <a:solidFill>
                  <a:srgbClr val="9A9A9E"/>
                </a:solidFill>
                <a:latin typeface="Caveat"/>
              </a:defRPr>
            </a:pPr>
            <a:r>
              <a:t>—build another / timeout→ IDLE</a:t>
            </a:r>
          </a:p>
        </p:txBody>
      </p:sp>
      <p:sp>
        <p:nvSpPr>
          <p:cNvPr id="48" name="TextBox 47"/>
          <p:cNvSpPr txBox="1"/>
          <p:nvPr/>
        </p:nvSpPr>
        <p:spPr>
          <a:xfrm>
            <a:off x="457200" y="6172200"/>
            <a:ext cx="9144000" cy="182880"/>
          </a:xfrm>
          <a:prstGeom prst="rect">
            <a:avLst/>
          </a:prstGeom>
          <a:noFill/>
        </p:spPr>
        <p:txBody>
          <a:bodyPr wrap="square">
            <a:spAutoFit/>
          </a:bodyPr>
          <a:lstStyle/>
          <a:p>
            <a:pPr algn="l">
              <a:defRPr sz="900" b="0" i="1">
                <a:solidFill>
                  <a:srgbClr val="9A9A9E"/>
                </a:solidFill>
                <a:latin typeface="Quicksand"/>
              </a:defRPr>
            </a:pPr>
            <a:r>
              <a:t>Ref: Stefana Parascho — Cooperative Robotic Assembly (ETH). Assembly sequence as FSM.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10515600" y="182880"/>
            <a:ext cx="1371600" cy="914400"/>
          </a:xfrm>
          <a:prstGeom prst="rect">
            <a:avLst/>
          </a:prstGeom>
          <a:noFill/>
        </p:spPr>
        <p:txBody>
          <a:bodyPr wrap="square">
            <a:spAutoFit/>
          </a:bodyPr>
          <a:lstStyle/>
          <a:p>
            <a:pPr algn="r">
              <a:defRPr sz="6000" b="1" i="0">
                <a:solidFill>
                  <a:srgbClr val="E8E8E0"/>
                </a:solidFill>
                <a:latin typeface="Caveat"/>
              </a:defRPr>
            </a:pPr>
            <a:r>
              <a:t>05</a:t>
            </a:r>
          </a:p>
        </p:txBody>
      </p:sp>
      <p:sp>
        <p:nvSpPr>
          <p:cNvPr id="3" name="TextBox 2"/>
          <p:cNvSpPr txBox="1"/>
          <p:nvPr/>
        </p:nvSpPr>
        <p:spPr>
          <a:xfrm>
            <a:off x="457200" y="6400800"/>
            <a:ext cx="5486400" cy="274320"/>
          </a:xfrm>
          <a:prstGeom prst="rect">
            <a:avLst/>
          </a:prstGeom>
          <a:noFill/>
        </p:spPr>
        <p:txBody>
          <a:bodyPr wrap="square">
            <a:spAutoFit/>
          </a:bodyPr>
          <a:lstStyle/>
          <a:p>
            <a:pPr algn="l">
              <a:defRPr sz="800" b="0" i="0">
                <a:solidFill>
                  <a:srgbClr val="9A9A9E"/>
                </a:solidFill>
                <a:latin typeface="Quicksand"/>
              </a:defRPr>
            </a:pPr>
            <a:r>
              <a:t>Hardware III — IAAC MRAC+MAAI 2025/2026</a:t>
            </a:r>
          </a:p>
        </p:txBody>
      </p:sp>
      <p:sp>
        <p:nvSpPr>
          <p:cNvPr id="4" name="TextBox 3"/>
          <p:cNvSpPr txBox="1"/>
          <p:nvPr/>
        </p:nvSpPr>
        <p:spPr>
          <a:xfrm>
            <a:off x="10515600" y="6400800"/>
            <a:ext cx="1371600" cy="274320"/>
          </a:xfrm>
          <a:prstGeom prst="rect">
            <a:avLst/>
          </a:prstGeom>
          <a:noFill/>
        </p:spPr>
        <p:txBody>
          <a:bodyPr wrap="square">
            <a:spAutoFit/>
          </a:bodyPr>
          <a:lstStyle/>
          <a:p>
            <a:pPr algn="r">
              <a:defRPr sz="800" b="0" i="0">
                <a:solidFill>
                  <a:srgbClr val="9A9A9E"/>
                </a:solidFill>
                <a:latin typeface="Quicksand"/>
              </a:defRPr>
            </a:pPr>
            <a:r>
              <a:t>5 / 5</a:t>
            </a:r>
          </a:p>
        </p:txBody>
      </p:sp>
      <p:sp>
        <p:nvSpPr>
          <p:cNvPr id="5" name="TextBox 4"/>
          <p:cNvSpPr txBox="1"/>
          <p:nvPr/>
        </p:nvSpPr>
        <p:spPr>
          <a:xfrm>
            <a:off x="548640" y="274320"/>
            <a:ext cx="9144000" cy="822960"/>
          </a:xfrm>
          <a:prstGeom prst="rect">
            <a:avLst/>
          </a:prstGeom>
          <a:noFill/>
        </p:spPr>
        <p:txBody>
          <a:bodyPr wrap="square">
            <a:spAutoFit/>
          </a:bodyPr>
          <a:lstStyle/>
          <a:p>
            <a:pPr algn="l">
              <a:defRPr sz="4400" b="1" i="0">
                <a:solidFill>
                  <a:srgbClr val="1A1A1A"/>
                </a:solidFill>
                <a:latin typeface="Caveat"/>
              </a:defRPr>
            </a:pPr>
            <a:r>
              <a:t>Data, Priorities &amp; Timeline</a:t>
            </a:r>
          </a:p>
        </p:txBody>
      </p:sp>
      <p:sp>
        <p:nvSpPr>
          <p:cNvPr id="6" name="TextBox 5"/>
          <p:cNvSpPr txBox="1"/>
          <p:nvPr/>
        </p:nvSpPr>
        <p:spPr>
          <a:xfrm>
            <a:off x="548640" y="914400"/>
            <a:ext cx="9144000" cy="274320"/>
          </a:xfrm>
          <a:prstGeom prst="rect">
            <a:avLst/>
          </a:prstGeom>
          <a:noFill/>
        </p:spPr>
        <p:txBody>
          <a:bodyPr wrap="square">
            <a:spAutoFit/>
          </a:bodyPr>
          <a:lstStyle/>
          <a:p>
            <a:pPr algn="l">
              <a:defRPr sz="1400" b="0" i="0">
                <a:solidFill>
                  <a:srgbClr val="9A9A9E"/>
                </a:solidFill>
                <a:latin typeface="Quicksand"/>
              </a:defRPr>
            </a:pPr>
            <a:r>
              <a:t>What we track, how we prioritize, and when we deliver</a:t>
            </a:r>
          </a:p>
        </p:txBody>
      </p:sp>
      <p:sp>
        <p:nvSpPr>
          <p:cNvPr id="7" name="Rounded Rectangle 6"/>
          <p:cNvSpPr/>
          <p:nvPr/>
        </p:nvSpPr>
        <p:spPr>
          <a:xfrm rot="21582000">
            <a:off x="365760" y="1371600"/>
            <a:ext cx="5486400" cy="210312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34440"/>
            <a:ext cx="2011680" cy="228600"/>
          </a:xfrm>
          <a:prstGeom prst="rect">
            <a:avLst/>
          </a:prstGeom>
          <a:noFill/>
        </p:spPr>
        <p:txBody>
          <a:bodyPr wrap="none">
            <a:spAutoFit/>
          </a:bodyPr>
          <a:lstStyle/>
          <a:p>
            <a:pPr>
              <a:defRPr sz="900" b="1">
                <a:solidFill>
                  <a:srgbClr val="1A1A1A"/>
                </a:solidFill>
                <a:latin typeface="Caveat"/>
              </a:defRPr>
            </a:pPr>
            <a:r>
              <a:t>PARAMETERS PER PHASE</a:t>
            </a:r>
          </a:p>
        </p:txBody>
      </p:sp>
      <p:sp>
        <p:nvSpPr>
          <p:cNvPr id="9" name="TextBox 8"/>
          <p:cNvSpPr txBox="1"/>
          <p:nvPr/>
        </p:nvSpPr>
        <p:spPr>
          <a:xfrm>
            <a:off x="548640" y="1645920"/>
            <a:ext cx="2103120" cy="182880"/>
          </a:xfrm>
          <a:prstGeom prst="rect">
            <a:avLst/>
          </a:prstGeom>
          <a:noFill/>
        </p:spPr>
        <p:txBody>
          <a:bodyPr wrap="square">
            <a:spAutoFit/>
          </a:bodyPr>
          <a:lstStyle/>
          <a:p>
            <a:pPr algn="l">
              <a:defRPr sz="1200" b="1" i="0">
                <a:solidFill>
                  <a:srgbClr val="1A1A1A"/>
                </a:solidFill>
                <a:latin typeface="Caveat"/>
              </a:defRPr>
            </a:pPr>
            <a:r>
              <a:t>CO₂ emissions</a:t>
            </a:r>
          </a:p>
        </p:txBody>
      </p:sp>
      <p:sp>
        <p:nvSpPr>
          <p:cNvPr id="10" name="TextBox 9"/>
          <p:cNvSpPr txBox="1"/>
          <p:nvPr/>
        </p:nvSpPr>
        <p:spPr>
          <a:xfrm>
            <a:off x="2651760" y="1645920"/>
            <a:ext cx="3017520" cy="182880"/>
          </a:xfrm>
          <a:prstGeom prst="rect">
            <a:avLst/>
          </a:prstGeom>
          <a:noFill/>
        </p:spPr>
        <p:txBody>
          <a:bodyPr wrap="square">
            <a:spAutoFit/>
          </a:bodyPr>
          <a:lstStyle/>
          <a:p>
            <a:pPr algn="l">
              <a:defRPr sz="1000" b="0" i="0">
                <a:solidFill>
                  <a:srgbClr val="4A4A4A"/>
                </a:solidFill>
                <a:latin typeface="Quicksand"/>
              </a:defRPr>
            </a:pPr>
            <a:r>
              <a:t>Per ton of material, per phase</a:t>
            </a:r>
          </a:p>
        </p:txBody>
      </p:sp>
      <p:sp>
        <p:nvSpPr>
          <p:cNvPr id="11" name="TextBox 10"/>
          <p:cNvSpPr txBox="1"/>
          <p:nvPr/>
        </p:nvSpPr>
        <p:spPr>
          <a:xfrm>
            <a:off x="548640" y="1938528"/>
            <a:ext cx="2103120" cy="182880"/>
          </a:xfrm>
          <a:prstGeom prst="rect">
            <a:avLst/>
          </a:prstGeom>
          <a:noFill/>
        </p:spPr>
        <p:txBody>
          <a:bodyPr wrap="square">
            <a:spAutoFit/>
          </a:bodyPr>
          <a:lstStyle/>
          <a:p>
            <a:pPr algn="l">
              <a:defRPr sz="1200" b="1" i="0">
                <a:solidFill>
                  <a:srgbClr val="1A1A1A"/>
                </a:solidFill>
                <a:latin typeface="Caveat"/>
              </a:defRPr>
            </a:pPr>
            <a:r>
              <a:t>Labor hours</a:t>
            </a:r>
          </a:p>
        </p:txBody>
      </p:sp>
      <p:sp>
        <p:nvSpPr>
          <p:cNvPr id="12" name="TextBox 11"/>
          <p:cNvSpPr txBox="1"/>
          <p:nvPr/>
        </p:nvSpPr>
        <p:spPr>
          <a:xfrm>
            <a:off x="2651760" y="1938528"/>
            <a:ext cx="3017520" cy="182880"/>
          </a:xfrm>
          <a:prstGeom prst="rect">
            <a:avLst/>
          </a:prstGeom>
          <a:noFill/>
        </p:spPr>
        <p:txBody>
          <a:bodyPr wrap="square">
            <a:spAutoFit/>
          </a:bodyPr>
          <a:lstStyle/>
          <a:p>
            <a:pPr algn="l">
              <a:defRPr sz="1000" b="0" i="0">
                <a:solidFill>
                  <a:srgbClr val="4A4A4A"/>
                </a:solidFill>
                <a:latin typeface="Quicksand"/>
              </a:defRPr>
            </a:pPr>
            <a:r>
              <a:t>Worker time + health/safety considerations</a:t>
            </a:r>
          </a:p>
        </p:txBody>
      </p:sp>
      <p:sp>
        <p:nvSpPr>
          <p:cNvPr id="13" name="TextBox 12"/>
          <p:cNvSpPr txBox="1"/>
          <p:nvPr/>
        </p:nvSpPr>
        <p:spPr>
          <a:xfrm>
            <a:off x="548640" y="2231136"/>
            <a:ext cx="2103120" cy="182880"/>
          </a:xfrm>
          <a:prstGeom prst="rect">
            <a:avLst/>
          </a:prstGeom>
          <a:noFill/>
        </p:spPr>
        <p:txBody>
          <a:bodyPr wrap="square">
            <a:spAutoFit/>
          </a:bodyPr>
          <a:lstStyle/>
          <a:p>
            <a:pPr algn="l">
              <a:defRPr sz="1200" b="1" i="0">
                <a:solidFill>
                  <a:srgbClr val="1A1A1A"/>
                </a:solidFill>
                <a:latin typeface="Caveat"/>
              </a:defRPr>
            </a:pPr>
            <a:r>
              <a:t>Material usage</a:t>
            </a:r>
          </a:p>
        </p:txBody>
      </p:sp>
      <p:sp>
        <p:nvSpPr>
          <p:cNvPr id="14" name="TextBox 13"/>
          <p:cNvSpPr txBox="1"/>
          <p:nvPr/>
        </p:nvSpPr>
        <p:spPr>
          <a:xfrm>
            <a:off x="2651760" y="2231136"/>
            <a:ext cx="3017520" cy="182880"/>
          </a:xfrm>
          <a:prstGeom prst="rect">
            <a:avLst/>
          </a:prstGeom>
          <a:noFill/>
        </p:spPr>
        <p:txBody>
          <a:bodyPr wrap="square">
            <a:spAutoFit/>
          </a:bodyPr>
          <a:lstStyle/>
          <a:p>
            <a:pPr algn="l">
              <a:defRPr sz="1000" b="0" i="0">
                <a:solidFill>
                  <a:srgbClr val="4A4A4A"/>
                </a:solidFill>
                <a:latin typeface="Quicksand"/>
              </a:defRPr>
            </a:pPr>
            <a:r>
              <a:t>Concrete, wood, cement — contextualized (e.g., X trees)</a:t>
            </a:r>
          </a:p>
        </p:txBody>
      </p:sp>
      <p:sp>
        <p:nvSpPr>
          <p:cNvPr id="15" name="TextBox 14"/>
          <p:cNvSpPr txBox="1"/>
          <p:nvPr/>
        </p:nvSpPr>
        <p:spPr>
          <a:xfrm>
            <a:off x="548640" y="2523744"/>
            <a:ext cx="2103120" cy="182880"/>
          </a:xfrm>
          <a:prstGeom prst="rect">
            <a:avLst/>
          </a:prstGeom>
          <a:noFill/>
        </p:spPr>
        <p:txBody>
          <a:bodyPr wrap="square">
            <a:spAutoFit/>
          </a:bodyPr>
          <a:lstStyle/>
          <a:p>
            <a:pPr algn="l">
              <a:defRPr sz="1200" b="1" i="0">
                <a:solidFill>
                  <a:srgbClr val="1A1A1A"/>
                </a:solidFill>
                <a:latin typeface="Caveat"/>
              </a:defRPr>
            </a:pPr>
            <a:r>
              <a:t>Total cost</a:t>
            </a:r>
          </a:p>
        </p:txBody>
      </p:sp>
      <p:sp>
        <p:nvSpPr>
          <p:cNvPr id="16" name="TextBox 15"/>
          <p:cNvSpPr txBox="1"/>
          <p:nvPr/>
        </p:nvSpPr>
        <p:spPr>
          <a:xfrm>
            <a:off x="2651760" y="2523744"/>
            <a:ext cx="3017520" cy="182880"/>
          </a:xfrm>
          <a:prstGeom prst="rect">
            <a:avLst/>
          </a:prstGeom>
          <a:noFill/>
        </p:spPr>
        <p:txBody>
          <a:bodyPr wrap="square">
            <a:spAutoFit/>
          </a:bodyPr>
          <a:lstStyle/>
          <a:p>
            <a:pPr algn="l">
              <a:defRPr sz="1000" b="0" i="0">
                <a:solidFill>
                  <a:srgbClr val="4A4A4A"/>
                </a:solidFill>
                <a:latin typeface="Quicksand"/>
              </a:defRPr>
            </a:pPr>
            <a:r>
              <a:t>Broken down by construction phase</a:t>
            </a:r>
          </a:p>
        </p:txBody>
      </p:sp>
      <p:sp>
        <p:nvSpPr>
          <p:cNvPr id="17" name="TextBox 16"/>
          <p:cNvSpPr txBox="1"/>
          <p:nvPr/>
        </p:nvSpPr>
        <p:spPr>
          <a:xfrm>
            <a:off x="548640" y="2816351"/>
            <a:ext cx="2103120" cy="182880"/>
          </a:xfrm>
          <a:prstGeom prst="rect">
            <a:avLst/>
          </a:prstGeom>
          <a:noFill/>
        </p:spPr>
        <p:txBody>
          <a:bodyPr wrap="square">
            <a:spAutoFit/>
          </a:bodyPr>
          <a:lstStyle/>
          <a:p>
            <a:pPr algn="l">
              <a:defRPr sz="1200" b="1" i="0">
                <a:solidFill>
                  <a:srgbClr val="1A1A1A"/>
                </a:solidFill>
                <a:latin typeface="Caveat"/>
              </a:defRPr>
            </a:pPr>
            <a:r>
              <a:t>Logistics</a:t>
            </a:r>
          </a:p>
        </p:txBody>
      </p:sp>
      <p:sp>
        <p:nvSpPr>
          <p:cNvPr id="18" name="TextBox 17"/>
          <p:cNvSpPr txBox="1"/>
          <p:nvPr/>
        </p:nvSpPr>
        <p:spPr>
          <a:xfrm>
            <a:off x="2651760" y="2816351"/>
            <a:ext cx="3017520" cy="182880"/>
          </a:xfrm>
          <a:prstGeom prst="rect">
            <a:avLst/>
          </a:prstGeom>
          <a:noFill/>
        </p:spPr>
        <p:txBody>
          <a:bodyPr wrap="square">
            <a:spAutoFit/>
          </a:bodyPr>
          <a:lstStyle/>
          <a:p>
            <a:pPr algn="l">
              <a:defRPr sz="1000" b="0" i="0">
                <a:solidFill>
                  <a:srgbClr val="4A4A4A"/>
                </a:solidFill>
                <a:latin typeface="Quicksand"/>
              </a:defRPr>
            </a:pPr>
            <a:r>
              <a:t>Transportation, regional (Catalonia focus)</a:t>
            </a:r>
          </a:p>
        </p:txBody>
      </p:sp>
      <p:sp>
        <p:nvSpPr>
          <p:cNvPr id="19" name="TextBox 18"/>
          <p:cNvSpPr txBox="1"/>
          <p:nvPr/>
        </p:nvSpPr>
        <p:spPr>
          <a:xfrm>
            <a:off x="548640" y="3108959"/>
            <a:ext cx="2103120" cy="182880"/>
          </a:xfrm>
          <a:prstGeom prst="rect">
            <a:avLst/>
          </a:prstGeom>
          <a:noFill/>
        </p:spPr>
        <p:txBody>
          <a:bodyPr wrap="square">
            <a:spAutoFit/>
          </a:bodyPr>
          <a:lstStyle/>
          <a:p>
            <a:pPr algn="l">
              <a:defRPr sz="1200" b="1" i="0">
                <a:solidFill>
                  <a:srgbClr val="1A1A1A"/>
                </a:solidFill>
                <a:latin typeface="Caveat"/>
              </a:defRPr>
            </a:pPr>
            <a:r>
              <a:t>Construction time</a:t>
            </a:r>
          </a:p>
        </p:txBody>
      </p:sp>
      <p:sp>
        <p:nvSpPr>
          <p:cNvPr id="20" name="TextBox 19"/>
          <p:cNvSpPr txBox="1"/>
          <p:nvPr/>
        </p:nvSpPr>
        <p:spPr>
          <a:xfrm>
            <a:off x="2651760" y="3108959"/>
            <a:ext cx="3017520" cy="182880"/>
          </a:xfrm>
          <a:prstGeom prst="rect">
            <a:avLst/>
          </a:prstGeom>
          <a:noFill/>
        </p:spPr>
        <p:txBody>
          <a:bodyPr wrap="square">
            <a:spAutoFit/>
          </a:bodyPr>
          <a:lstStyle/>
          <a:p>
            <a:pPr algn="l">
              <a:defRPr sz="1000" b="0" i="0">
                <a:solidFill>
                  <a:srgbClr val="4A4A4A"/>
                </a:solidFill>
                <a:latin typeface="Quicksand"/>
              </a:defRPr>
            </a:pPr>
            <a:r>
              <a:t>Duration per phase and total</a:t>
            </a:r>
          </a:p>
        </p:txBody>
      </p:sp>
      <p:sp>
        <p:nvSpPr>
          <p:cNvPr id="21" name="Rounded Rectangle 20"/>
          <p:cNvSpPr/>
          <p:nvPr/>
        </p:nvSpPr>
        <p:spPr>
          <a:xfrm rot="21582000">
            <a:off x="6126480" y="1371600"/>
            <a:ext cx="5486400" cy="210312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234440"/>
            <a:ext cx="2011680" cy="228600"/>
          </a:xfrm>
          <a:prstGeom prst="rect">
            <a:avLst/>
          </a:prstGeom>
          <a:noFill/>
        </p:spPr>
        <p:txBody>
          <a:bodyPr wrap="none">
            <a:spAutoFit/>
          </a:bodyPr>
          <a:lstStyle/>
          <a:p>
            <a:pPr>
              <a:defRPr sz="900" b="1">
                <a:solidFill>
                  <a:srgbClr val="1A1A1A"/>
                </a:solidFill>
                <a:latin typeface="Caveat"/>
              </a:defRPr>
            </a:pPr>
            <a:r>
              <a:t>DEVELOPMENT PRIORITIES</a:t>
            </a:r>
          </a:p>
        </p:txBody>
      </p:sp>
      <p:sp>
        <p:nvSpPr>
          <p:cNvPr id="23" name="TextBox 22"/>
          <p:cNvSpPr txBox="1"/>
          <p:nvPr/>
        </p:nvSpPr>
        <p:spPr>
          <a:xfrm>
            <a:off x="6309360" y="1645920"/>
            <a:ext cx="5029200" cy="182880"/>
          </a:xfrm>
          <a:prstGeom prst="rect">
            <a:avLst/>
          </a:prstGeom>
          <a:noFill/>
        </p:spPr>
        <p:txBody>
          <a:bodyPr wrap="square">
            <a:spAutoFit/>
          </a:bodyPr>
          <a:lstStyle/>
          <a:p>
            <a:pPr algn="l">
              <a:defRPr sz="1200" b="1" i="0">
                <a:solidFill>
                  <a:srgbClr val="CC3333"/>
                </a:solidFill>
                <a:latin typeface="Quicksand"/>
              </a:defRPr>
            </a:pPr>
            <a:r>
              <a:t>P1 — Course critical</a:t>
            </a:r>
          </a:p>
        </p:txBody>
      </p:sp>
      <p:sp>
        <p:nvSpPr>
          <p:cNvPr id="24" name="TextBox 23"/>
          <p:cNvSpPr txBox="1"/>
          <p:nvPr/>
        </p:nvSpPr>
        <p:spPr>
          <a:xfrm>
            <a:off x="6309360" y="1847088"/>
            <a:ext cx="5029200" cy="182880"/>
          </a:xfrm>
          <a:prstGeom prst="rect">
            <a:avLst/>
          </a:prstGeom>
          <a:noFill/>
        </p:spPr>
        <p:txBody>
          <a:bodyPr wrap="square">
            <a:spAutoFit/>
          </a:bodyPr>
          <a:lstStyle/>
          <a:p>
            <a:pPr algn="l">
              <a:defRPr sz="900" b="0" i="0">
                <a:solidFill>
                  <a:srgbClr val="4A4A4A"/>
                </a:solidFill>
                <a:latin typeface="Quicksand"/>
              </a:defRPr>
            </a:pPr>
            <a:r>
              <a:t>Projector + camera + ArUco tracking, square meter sizing, floor selection, GUI</a:t>
            </a:r>
          </a:p>
        </p:txBody>
      </p:sp>
      <p:sp>
        <p:nvSpPr>
          <p:cNvPr id="25" name="TextBox 24"/>
          <p:cNvSpPr txBox="1"/>
          <p:nvPr/>
        </p:nvSpPr>
        <p:spPr>
          <a:xfrm>
            <a:off x="6309360" y="2121408"/>
            <a:ext cx="5029200" cy="182880"/>
          </a:xfrm>
          <a:prstGeom prst="rect">
            <a:avLst/>
          </a:prstGeom>
          <a:noFill/>
        </p:spPr>
        <p:txBody>
          <a:bodyPr wrap="square">
            <a:spAutoFit/>
          </a:bodyPr>
          <a:lstStyle/>
          <a:p>
            <a:pPr algn="l">
              <a:defRPr sz="1200" b="1" i="0">
                <a:solidFill>
                  <a:srgbClr val="1A1A1A"/>
                </a:solidFill>
                <a:latin typeface="Quicksand"/>
              </a:defRPr>
            </a:pPr>
            <a:r>
              <a:t>P2 — RFID + ESP</a:t>
            </a:r>
          </a:p>
        </p:txBody>
      </p:sp>
      <p:sp>
        <p:nvSpPr>
          <p:cNvPr id="26" name="TextBox 25"/>
          <p:cNvSpPr txBox="1"/>
          <p:nvPr/>
        </p:nvSpPr>
        <p:spPr>
          <a:xfrm>
            <a:off x="6309360" y="2322576"/>
            <a:ext cx="5029200" cy="182880"/>
          </a:xfrm>
          <a:prstGeom prst="rect">
            <a:avLst/>
          </a:prstGeom>
          <a:noFill/>
        </p:spPr>
        <p:txBody>
          <a:bodyPr wrap="square">
            <a:spAutoFit/>
          </a:bodyPr>
          <a:lstStyle/>
          <a:p>
            <a:pPr algn="l">
              <a:defRPr sz="900" b="0" i="0">
                <a:solidFill>
                  <a:srgbClr val="4A4A4A"/>
                </a:solidFill>
                <a:latin typeface="Quicksand"/>
              </a:defRPr>
            </a:pPr>
            <a:r>
              <a:t>Pedestal integration, method selection, ESP controller communication</a:t>
            </a:r>
          </a:p>
        </p:txBody>
      </p:sp>
      <p:sp>
        <p:nvSpPr>
          <p:cNvPr id="27" name="TextBox 26"/>
          <p:cNvSpPr txBox="1"/>
          <p:nvPr/>
        </p:nvSpPr>
        <p:spPr>
          <a:xfrm>
            <a:off x="6309360" y="2596896"/>
            <a:ext cx="5029200" cy="182880"/>
          </a:xfrm>
          <a:prstGeom prst="rect">
            <a:avLst/>
          </a:prstGeom>
          <a:noFill/>
        </p:spPr>
        <p:txBody>
          <a:bodyPr wrap="square">
            <a:spAutoFit/>
          </a:bodyPr>
          <a:lstStyle/>
          <a:p>
            <a:pPr algn="l">
              <a:defRPr sz="1200" b="1" i="0">
                <a:solidFill>
                  <a:srgbClr val="1A1A1A"/>
                </a:solidFill>
                <a:latin typeface="Quicksand"/>
              </a:defRPr>
            </a:pPr>
            <a:r>
              <a:t>P3 — Building phases</a:t>
            </a:r>
          </a:p>
        </p:txBody>
      </p:sp>
      <p:sp>
        <p:nvSpPr>
          <p:cNvPr id="28" name="TextBox 27"/>
          <p:cNvSpPr txBox="1"/>
          <p:nvPr/>
        </p:nvSpPr>
        <p:spPr>
          <a:xfrm>
            <a:off x="6309360" y="2798064"/>
            <a:ext cx="5029200" cy="182880"/>
          </a:xfrm>
          <a:prstGeom prst="rect">
            <a:avLst/>
          </a:prstGeom>
          <a:noFill/>
        </p:spPr>
        <p:txBody>
          <a:bodyPr wrap="square">
            <a:spAutoFit/>
          </a:bodyPr>
          <a:lstStyle/>
          <a:p>
            <a:pPr algn="l">
              <a:defRPr sz="900" b="0" i="0">
                <a:solidFill>
                  <a:srgbClr val="4A4A4A"/>
                </a:solidFill>
                <a:latin typeface="Quicksand"/>
              </a:defRPr>
            </a:pPr>
            <a:r>
              <a:t>AI-generated animations, information display per construction phase</a:t>
            </a:r>
          </a:p>
        </p:txBody>
      </p:sp>
      <p:sp>
        <p:nvSpPr>
          <p:cNvPr id="29" name="TextBox 28"/>
          <p:cNvSpPr txBox="1"/>
          <p:nvPr/>
        </p:nvSpPr>
        <p:spPr>
          <a:xfrm>
            <a:off x="6309360" y="3072384"/>
            <a:ext cx="5029200" cy="182880"/>
          </a:xfrm>
          <a:prstGeom prst="rect">
            <a:avLst/>
          </a:prstGeom>
          <a:noFill/>
        </p:spPr>
        <p:txBody>
          <a:bodyPr wrap="square">
            <a:spAutoFit/>
          </a:bodyPr>
          <a:lstStyle/>
          <a:p>
            <a:pPr algn="l">
              <a:defRPr sz="1200" b="1" i="0">
                <a:solidFill>
                  <a:srgbClr val="1A1A1A"/>
                </a:solidFill>
                <a:latin typeface="Quicksand"/>
              </a:defRPr>
            </a:pPr>
            <a:r>
              <a:t>P4 — Data + Comparison</a:t>
            </a:r>
          </a:p>
        </p:txBody>
      </p:sp>
      <p:sp>
        <p:nvSpPr>
          <p:cNvPr id="30" name="TextBox 29"/>
          <p:cNvSpPr txBox="1"/>
          <p:nvPr/>
        </p:nvSpPr>
        <p:spPr>
          <a:xfrm>
            <a:off x="6309360" y="3273552"/>
            <a:ext cx="5029200" cy="182880"/>
          </a:xfrm>
          <a:prstGeom prst="rect">
            <a:avLst/>
          </a:prstGeom>
          <a:noFill/>
        </p:spPr>
        <p:txBody>
          <a:bodyPr wrap="square">
            <a:spAutoFit/>
          </a:bodyPr>
          <a:lstStyle/>
          <a:p>
            <a:pPr algn="l">
              <a:defRPr sz="900" b="0" i="0">
                <a:solidFill>
                  <a:srgbClr val="4A4A4A"/>
                </a:solidFill>
                <a:latin typeface="Quicksand"/>
              </a:defRPr>
            </a:pPr>
            <a:r>
              <a:t>Cost tracking, CO₂ tracking, dataset save, side-by-side comparison view</a:t>
            </a:r>
          </a:p>
        </p:txBody>
      </p:sp>
      <p:sp>
        <p:nvSpPr>
          <p:cNvPr id="31" name="Rounded Rectangle 30"/>
          <p:cNvSpPr/>
          <p:nvPr/>
        </p:nvSpPr>
        <p:spPr>
          <a:xfrm rot="21582000">
            <a:off x="365760" y="3657600"/>
            <a:ext cx="5486400" cy="1371600"/>
          </a:xfrm>
          <a:prstGeom prst="roundRect">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3520440"/>
            <a:ext cx="2011680" cy="228600"/>
          </a:xfrm>
          <a:prstGeom prst="rect">
            <a:avLst/>
          </a:prstGeom>
          <a:noFill/>
        </p:spPr>
        <p:txBody>
          <a:bodyPr wrap="none">
            <a:spAutoFit/>
          </a:bodyPr>
          <a:lstStyle/>
          <a:p>
            <a:pPr>
              <a:defRPr sz="900" b="1">
                <a:solidFill>
                  <a:srgbClr val="1A1A1A"/>
                </a:solidFill>
                <a:latin typeface="Caveat"/>
              </a:defRPr>
            </a:pPr>
            <a:r>
              <a:t>BUILDING PHASES (~5 PER METHOD)</a:t>
            </a:r>
          </a:p>
        </p:txBody>
      </p:sp>
      <p:sp>
        <p:nvSpPr>
          <p:cNvPr id="33" name="TextBox 32"/>
          <p:cNvSpPr txBox="1"/>
          <p:nvPr/>
        </p:nvSpPr>
        <p:spPr>
          <a:xfrm>
            <a:off x="548640" y="3886200"/>
            <a:ext cx="5029200" cy="182880"/>
          </a:xfrm>
          <a:prstGeom prst="rect">
            <a:avLst/>
          </a:prstGeom>
          <a:noFill/>
        </p:spPr>
        <p:txBody>
          <a:bodyPr wrap="square">
            <a:spAutoFit/>
          </a:bodyPr>
          <a:lstStyle/>
          <a:p>
            <a:pPr algn="l">
              <a:defRPr sz="1100" b="1" i="0">
                <a:solidFill>
                  <a:srgbClr val="4A4A4A"/>
                </a:solidFill>
                <a:latin typeface="Quicksand"/>
              </a:defRPr>
            </a:pPr>
            <a:r>
              <a:t>1. Foundation / Excavation</a:t>
            </a:r>
          </a:p>
        </p:txBody>
      </p:sp>
      <p:sp>
        <p:nvSpPr>
          <p:cNvPr id="34" name="TextBox 33"/>
          <p:cNvSpPr txBox="1"/>
          <p:nvPr/>
        </p:nvSpPr>
        <p:spPr>
          <a:xfrm>
            <a:off x="548640" y="4087368"/>
            <a:ext cx="5029200" cy="182880"/>
          </a:xfrm>
          <a:prstGeom prst="rect">
            <a:avLst/>
          </a:prstGeom>
          <a:noFill/>
        </p:spPr>
        <p:txBody>
          <a:bodyPr wrap="square">
            <a:spAutoFit/>
          </a:bodyPr>
          <a:lstStyle/>
          <a:p>
            <a:pPr algn="l">
              <a:defRPr sz="1100" b="1" i="0">
                <a:solidFill>
                  <a:srgbClr val="4A4A4A"/>
                </a:solidFill>
                <a:latin typeface="Quicksand"/>
              </a:defRPr>
            </a:pPr>
            <a:r>
              <a:t>2. Structure / Walls</a:t>
            </a:r>
          </a:p>
        </p:txBody>
      </p:sp>
      <p:sp>
        <p:nvSpPr>
          <p:cNvPr id="35" name="TextBox 34"/>
          <p:cNvSpPr txBox="1"/>
          <p:nvPr/>
        </p:nvSpPr>
        <p:spPr>
          <a:xfrm>
            <a:off x="548640" y="4288536"/>
            <a:ext cx="5029200" cy="182880"/>
          </a:xfrm>
          <a:prstGeom prst="rect">
            <a:avLst/>
          </a:prstGeom>
          <a:noFill/>
        </p:spPr>
        <p:txBody>
          <a:bodyPr wrap="square">
            <a:spAutoFit/>
          </a:bodyPr>
          <a:lstStyle/>
          <a:p>
            <a:pPr algn="l">
              <a:defRPr sz="1100" b="1" i="0">
                <a:solidFill>
                  <a:srgbClr val="4A4A4A"/>
                </a:solidFill>
                <a:latin typeface="Quicksand"/>
              </a:defRPr>
            </a:pPr>
            <a:r>
              <a:t>3. Roof</a:t>
            </a:r>
          </a:p>
        </p:txBody>
      </p:sp>
      <p:sp>
        <p:nvSpPr>
          <p:cNvPr id="36" name="TextBox 35"/>
          <p:cNvSpPr txBox="1"/>
          <p:nvPr/>
        </p:nvSpPr>
        <p:spPr>
          <a:xfrm>
            <a:off x="548640" y="4489703"/>
            <a:ext cx="5029200" cy="182880"/>
          </a:xfrm>
          <a:prstGeom prst="rect">
            <a:avLst/>
          </a:prstGeom>
          <a:noFill/>
        </p:spPr>
        <p:txBody>
          <a:bodyPr wrap="square">
            <a:spAutoFit/>
          </a:bodyPr>
          <a:lstStyle/>
          <a:p>
            <a:pPr algn="l">
              <a:defRPr sz="1100" b="1" i="0">
                <a:solidFill>
                  <a:srgbClr val="4A4A4A"/>
                </a:solidFill>
                <a:latin typeface="Quicksand"/>
              </a:defRPr>
            </a:pPr>
            <a:r>
              <a:t>4. Windows / Openings</a:t>
            </a:r>
          </a:p>
        </p:txBody>
      </p:sp>
      <p:sp>
        <p:nvSpPr>
          <p:cNvPr id="37" name="TextBox 36"/>
          <p:cNvSpPr txBox="1"/>
          <p:nvPr/>
        </p:nvSpPr>
        <p:spPr>
          <a:xfrm>
            <a:off x="548640" y="4690871"/>
            <a:ext cx="5029200" cy="182880"/>
          </a:xfrm>
          <a:prstGeom prst="rect">
            <a:avLst/>
          </a:prstGeom>
          <a:noFill/>
        </p:spPr>
        <p:txBody>
          <a:bodyPr wrap="square">
            <a:spAutoFit/>
          </a:bodyPr>
          <a:lstStyle/>
          <a:p>
            <a:pPr algn="l">
              <a:defRPr sz="1100" b="1" i="0">
                <a:solidFill>
                  <a:srgbClr val="4A4A4A"/>
                </a:solidFill>
                <a:latin typeface="Quicksand"/>
              </a:defRPr>
            </a:pPr>
            <a:r>
              <a:t>5. Finishing (plaster, paint, floors)</a:t>
            </a:r>
          </a:p>
        </p:txBody>
      </p:sp>
      <p:sp>
        <p:nvSpPr>
          <p:cNvPr id="38" name="TextBox 37"/>
          <p:cNvSpPr txBox="1"/>
          <p:nvPr/>
        </p:nvSpPr>
        <p:spPr>
          <a:xfrm>
            <a:off x="548640" y="4937759"/>
            <a:ext cx="5029200" cy="182880"/>
          </a:xfrm>
          <a:prstGeom prst="rect">
            <a:avLst/>
          </a:prstGeom>
          <a:noFill/>
        </p:spPr>
        <p:txBody>
          <a:bodyPr wrap="square">
            <a:spAutoFit/>
          </a:bodyPr>
          <a:lstStyle/>
          <a:p>
            <a:pPr algn="l">
              <a:defRPr sz="900" b="0" i="1">
                <a:solidFill>
                  <a:srgbClr val="9A9A9E"/>
                </a:solidFill>
                <a:latin typeface="Quicksand"/>
              </a:defRPr>
            </a:pPr>
            <a:r>
              <a:t>Exact phases per method need research — 3DP and prefab have different sequences</a:t>
            </a:r>
          </a:p>
        </p:txBody>
      </p:sp>
      <p:sp>
        <p:nvSpPr>
          <p:cNvPr id="39" name="Rounded Rectangle 38"/>
          <p:cNvSpPr/>
          <p:nvPr/>
        </p:nvSpPr>
        <p:spPr>
          <a:xfrm rot="21582000">
            <a:off x="6126480" y="3657600"/>
            <a:ext cx="5486400" cy="1371600"/>
          </a:xfrm>
          <a:prstGeom prst="roundRect">
            <a:avLst/>
          </a:prstGeom>
          <a:noFill/>
          <a:ln w="12700">
            <a:solidFill>
              <a:srgbClr val="4A4A4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3520440"/>
            <a:ext cx="2011680" cy="228600"/>
          </a:xfrm>
          <a:prstGeom prst="rect">
            <a:avLst/>
          </a:prstGeom>
          <a:noFill/>
        </p:spPr>
        <p:txBody>
          <a:bodyPr wrap="none">
            <a:spAutoFit/>
          </a:bodyPr>
          <a:lstStyle/>
          <a:p>
            <a:pPr>
              <a:defRPr sz="900" b="1">
                <a:solidFill>
                  <a:srgbClr val="1A1A1A"/>
                </a:solidFill>
                <a:latin typeface="Caveat"/>
              </a:defRPr>
            </a:pPr>
            <a:r>
              <a:t>RESEARCH ACTION ITEMS</a:t>
            </a:r>
          </a:p>
        </p:txBody>
      </p:sp>
      <p:sp>
        <p:nvSpPr>
          <p:cNvPr id="41" name="TextBox 40"/>
          <p:cNvSpPr txBox="1"/>
          <p:nvPr/>
        </p:nvSpPr>
        <p:spPr>
          <a:xfrm>
            <a:off x="6309360" y="3886200"/>
            <a:ext cx="5029200" cy="182880"/>
          </a:xfrm>
          <a:prstGeom prst="rect">
            <a:avLst/>
          </a:prstGeom>
          <a:noFill/>
        </p:spPr>
        <p:txBody>
          <a:bodyPr wrap="square">
            <a:spAutoFit/>
          </a:bodyPr>
          <a:lstStyle/>
          <a:p>
            <a:pPr algn="l">
              <a:defRPr sz="1000" b="0" i="0">
                <a:solidFill>
                  <a:srgbClr val="4A4A4A"/>
                </a:solidFill>
                <a:latin typeface="Quicksand"/>
              </a:defRPr>
            </a:pPr>
            <a:r>
              <a:t>☐ Research building phases for all 3 methods</a:t>
            </a:r>
          </a:p>
        </p:txBody>
      </p:sp>
      <p:sp>
        <p:nvSpPr>
          <p:cNvPr id="42" name="TextBox 41"/>
          <p:cNvSpPr txBox="1"/>
          <p:nvPr/>
        </p:nvSpPr>
        <p:spPr>
          <a:xfrm>
            <a:off x="6309360" y="4087368"/>
            <a:ext cx="5029200" cy="182880"/>
          </a:xfrm>
          <a:prstGeom prst="rect">
            <a:avLst/>
          </a:prstGeom>
          <a:noFill/>
        </p:spPr>
        <p:txBody>
          <a:bodyPr wrap="square">
            <a:spAutoFit/>
          </a:bodyPr>
          <a:lstStyle/>
          <a:p>
            <a:pPr algn="l">
              <a:defRPr sz="1000" b="0" i="0">
                <a:solidFill>
                  <a:srgbClr val="4A4A4A"/>
                </a:solidFill>
                <a:latin typeface="Quicksand"/>
              </a:defRPr>
            </a:pPr>
            <a:r>
              <a:t>☐ Contact 10+ companies per method for reference data</a:t>
            </a:r>
          </a:p>
        </p:txBody>
      </p:sp>
      <p:sp>
        <p:nvSpPr>
          <p:cNvPr id="43" name="TextBox 42"/>
          <p:cNvSpPr txBox="1"/>
          <p:nvPr/>
        </p:nvSpPr>
        <p:spPr>
          <a:xfrm>
            <a:off x="6309360" y="4288536"/>
            <a:ext cx="5029200" cy="182880"/>
          </a:xfrm>
          <a:prstGeom prst="rect">
            <a:avLst/>
          </a:prstGeom>
          <a:noFill/>
        </p:spPr>
        <p:txBody>
          <a:bodyPr wrap="square">
            <a:spAutoFit/>
          </a:bodyPr>
          <a:lstStyle/>
          <a:p>
            <a:pPr algn="l">
              <a:defRPr sz="1000" b="0" i="0">
                <a:solidFill>
                  <a:srgbClr val="4A4A4A"/>
                </a:solidFill>
                <a:latin typeface="Quicksand"/>
              </a:defRPr>
            </a:pPr>
            <a:r>
              <a:t>☐ Research AI animation tools for phase visualization</a:t>
            </a:r>
          </a:p>
        </p:txBody>
      </p:sp>
      <p:sp>
        <p:nvSpPr>
          <p:cNvPr id="44" name="TextBox 43"/>
          <p:cNvSpPr txBox="1"/>
          <p:nvPr/>
        </p:nvSpPr>
        <p:spPr>
          <a:xfrm>
            <a:off x="6309360" y="4489703"/>
            <a:ext cx="5029200" cy="182880"/>
          </a:xfrm>
          <a:prstGeom prst="rect">
            <a:avLst/>
          </a:prstGeom>
          <a:noFill/>
        </p:spPr>
        <p:txBody>
          <a:bodyPr wrap="square">
            <a:spAutoFit/>
          </a:bodyPr>
          <a:lstStyle/>
          <a:p>
            <a:pPr algn="l">
              <a:defRPr sz="1000" b="0" i="0">
                <a:solidFill>
                  <a:srgbClr val="4A4A4A"/>
                </a:solidFill>
                <a:latin typeface="Quicksand"/>
              </a:defRPr>
            </a:pPr>
            <a:r>
              <a:t>☐ 3D print ArUco marker pucks</a:t>
            </a:r>
          </a:p>
        </p:txBody>
      </p:sp>
      <p:sp>
        <p:nvSpPr>
          <p:cNvPr id="45" name="TextBox 44"/>
          <p:cNvSpPr txBox="1"/>
          <p:nvPr/>
        </p:nvSpPr>
        <p:spPr>
          <a:xfrm>
            <a:off x="6309360" y="4690871"/>
            <a:ext cx="5029200" cy="182880"/>
          </a:xfrm>
          <a:prstGeom prst="rect">
            <a:avLst/>
          </a:prstGeom>
          <a:noFill/>
        </p:spPr>
        <p:txBody>
          <a:bodyPr wrap="square">
            <a:spAutoFit/>
          </a:bodyPr>
          <a:lstStyle/>
          <a:p>
            <a:pPr algn="l">
              <a:defRPr sz="1000" b="0" i="0">
                <a:solidFill>
                  <a:srgbClr val="4A4A4A"/>
                </a:solidFill>
                <a:latin typeface="Quicksand"/>
              </a:defRPr>
            </a:pPr>
            <a:r>
              <a:t>☐ Install YOLO plugin for TouchDesigner</a:t>
            </a:r>
          </a:p>
        </p:txBody>
      </p:sp>
      <p:sp>
        <p:nvSpPr>
          <p:cNvPr id="46" name="TextBox 45"/>
          <p:cNvSpPr txBox="1"/>
          <p:nvPr/>
        </p:nvSpPr>
        <p:spPr>
          <a:xfrm>
            <a:off x="6309360" y="4892039"/>
            <a:ext cx="5029200" cy="182880"/>
          </a:xfrm>
          <a:prstGeom prst="rect">
            <a:avLst/>
          </a:prstGeom>
          <a:noFill/>
        </p:spPr>
        <p:txBody>
          <a:bodyPr wrap="square">
            <a:spAutoFit/>
          </a:bodyPr>
          <a:lstStyle/>
          <a:p>
            <a:pPr algn="l">
              <a:defRPr sz="1000" b="0" i="0">
                <a:solidFill>
                  <a:srgbClr val="4A4A4A"/>
                </a:solidFill>
                <a:latin typeface="Quicksand"/>
              </a:defRPr>
            </a:pPr>
            <a:r>
              <a:t>☐ Gather Catalonia regional data (logistics, suppliers)</a:t>
            </a:r>
          </a:p>
        </p:txBody>
      </p:sp>
      <p:sp>
        <p:nvSpPr>
          <p:cNvPr id="47" name="TextBox 46"/>
          <p:cNvSpPr txBox="1"/>
          <p:nvPr/>
        </p:nvSpPr>
        <p:spPr>
          <a:xfrm>
            <a:off x="548640" y="5120640"/>
            <a:ext cx="3657600" cy="274320"/>
          </a:xfrm>
          <a:prstGeom prst="rect">
            <a:avLst/>
          </a:prstGeom>
          <a:noFill/>
        </p:spPr>
        <p:txBody>
          <a:bodyPr wrap="square">
            <a:spAutoFit/>
          </a:bodyPr>
          <a:lstStyle/>
          <a:p>
            <a:pPr algn="l">
              <a:defRPr sz="2200" b="1" i="0">
                <a:solidFill>
                  <a:srgbClr val="1A1A1A"/>
                </a:solidFill>
                <a:latin typeface="Caveat"/>
              </a:defRPr>
            </a:pPr>
            <a:r>
              <a:t>Project Timeline</a:t>
            </a:r>
          </a:p>
        </p:txBody>
      </p:sp>
      <p:sp>
        <p:nvSpPr>
          <p:cNvPr id="48" name="Rectangle 47"/>
          <p:cNvSpPr/>
          <p:nvPr/>
        </p:nvSpPr>
        <p:spPr>
          <a:xfrm>
            <a:off x="1371600" y="5532120"/>
            <a:ext cx="9601200" cy="25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691640" y="5440680"/>
            <a:ext cx="182880" cy="182880"/>
          </a:xfrm>
          <a:prstGeom prst="ellipse">
            <a:avLst/>
          </a:prstGeom>
          <a:solidFill>
            <a:srgbClr val="1A1A1A"/>
          </a:solid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71600" y="5230368"/>
            <a:ext cx="1097280" cy="201168"/>
          </a:xfrm>
          <a:prstGeom prst="rect">
            <a:avLst/>
          </a:prstGeom>
          <a:noFill/>
        </p:spPr>
        <p:txBody>
          <a:bodyPr wrap="square">
            <a:spAutoFit/>
          </a:bodyPr>
          <a:lstStyle/>
          <a:p>
            <a:pPr algn="ctr">
              <a:defRPr sz="1100" b="1" i="0">
                <a:solidFill>
                  <a:srgbClr val="1A1A1A"/>
                </a:solidFill>
                <a:latin typeface="Caveat"/>
              </a:defRPr>
            </a:pPr>
            <a:r>
              <a:t>P1</a:t>
            </a:r>
          </a:p>
        </p:txBody>
      </p:sp>
      <p:sp>
        <p:nvSpPr>
          <p:cNvPr id="51" name="TextBox 50"/>
          <p:cNvSpPr txBox="1"/>
          <p:nvPr/>
        </p:nvSpPr>
        <p:spPr>
          <a:xfrm>
            <a:off x="1097280" y="5623560"/>
            <a:ext cx="1645920" cy="320040"/>
          </a:xfrm>
          <a:prstGeom prst="rect">
            <a:avLst/>
          </a:prstGeom>
          <a:noFill/>
        </p:spPr>
        <p:txBody>
          <a:bodyPr wrap="square">
            <a:spAutoFit/>
          </a:bodyPr>
          <a:lstStyle/>
          <a:p>
            <a:pPr algn="ctr">
              <a:defRPr sz="750" b="0" i="0">
                <a:solidFill>
                  <a:srgbClr val="4A4A4A"/>
                </a:solidFill>
                <a:latin typeface="Quicksand"/>
              </a:defRPr>
            </a:pPr>
            <a:r>
              <a:t>Projector + Camera ArUco + GUI</a:t>
            </a:r>
          </a:p>
        </p:txBody>
      </p:sp>
      <p:sp>
        <p:nvSpPr>
          <p:cNvPr id="52" name="TextBox 51"/>
          <p:cNvSpPr txBox="1"/>
          <p:nvPr/>
        </p:nvSpPr>
        <p:spPr>
          <a:xfrm>
            <a:off x="1371600" y="5925312"/>
            <a:ext cx="1097280" cy="164592"/>
          </a:xfrm>
          <a:prstGeom prst="rect">
            <a:avLst/>
          </a:prstGeom>
          <a:noFill/>
        </p:spPr>
        <p:txBody>
          <a:bodyPr wrap="square">
            <a:spAutoFit/>
          </a:bodyPr>
          <a:lstStyle/>
          <a:p>
            <a:pPr algn="ctr">
              <a:defRPr sz="800" b="0" i="0">
                <a:solidFill>
                  <a:srgbClr val="9A9A9E"/>
                </a:solidFill>
                <a:latin typeface="Caveat"/>
              </a:defRPr>
            </a:pPr>
            <a:r>
              <a:t>Apr 17–May 4</a:t>
            </a:r>
          </a:p>
        </p:txBody>
      </p:sp>
      <p:sp>
        <p:nvSpPr>
          <p:cNvPr id="53" name="Oval 52"/>
          <p:cNvSpPr/>
          <p:nvPr/>
        </p:nvSpPr>
        <p:spPr>
          <a:xfrm>
            <a:off x="3977639" y="5440680"/>
            <a:ext cx="182880" cy="182880"/>
          </a:xfrm>
          <a:prstGeom prst="ellipse">
            <a:avLst/>
          </a:prstGeom>
          <a:solidFill>
            <a:srgbClr val="FAFAF8"/>
          </a:solid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57600" y="5230368"/>
            <a:ext cx="1097280" cy="201168"/>
          </a:xfrm>
          <a:prstGeom prst="rect">
            <a:avLst/>
          </a:prstGeom>
          <a:noFill/>
        </p:spPr>
        <p:txBody>
          <a:bodyPr wrap="square">
            <a:spAutoFit/>
          </a:bodyPr>
          <a:lstStyle/>
          <a:p>
            <a:pPr algn="ctr">
              <a:defRPr sz="1100" b="1" i="0">
                <a:solidFill>
                  <a:srgbClr val="1A1A1A"/>
                </a:solidFill>
                <a:latin typeface="Caveat"/>
              </a:defRPr>
            </a:pPr>
            <a:r>
              <a:t>P2</a:t>
            </a:r>
          </a:p>
        </p:txBody>
      </p:sp>
      <p:sp>
        <p:nvSpPr>
          <p:cNvPr id="55" name="TextBox 54"/>
          <p:cNvSpPr txBox="1"/>
          <p:nvPr/>
        </p:nvSpPr>
        <p:spPr>
          <a:xfrm>
            <a:off x="3383280" y="5623560"/>
            <a:ext cx="1645920" cy="320040"/>
          </a:xfrm>
          <a:prstGeom prst="rect">
            <a:avLst/>
          </a:prstGeom>
          <a:noFill/>
        </p:spPr>
        <p:txBody>
          <a:bodyPr wrap="square">
            <a:spAutoFit/>
          </a:bodyPr>
          <a:lstStyle/>
          <a:p>
            <a:pPr algn="ctr">
              <a:defRPr sz="750" b="0" i="0">
                <a:solidFill>
                  <a:srgbClr val="4A4A4A"/>
                </a:solidFill>
                <a:latin typeface="Quicksand"/>
              </a:defRPr>
            </a:pPr>
            <a:r>
              <a:t>RFID + ESP Method Selection</a:t>
            </a:r>
          </a:p>
        </p:txBody>
      </p:sp>
      <p:sp>
        <p:nvSpPr>
          <p:cNvPr id="56" name="TextBox 55"/>
          <p:cNvSpPr txBox="1"/>
          <p:nvPr/>
        </p:nvSpPr>
        <p:spPr>
          <a:xfrm>
            <a:off x="3657600" y="5925312"/>
            <a:ext cx="1097280" cy="164592"/>
          </a:xfrm>
          <a:prstGeom prst="rect">
            <a:avLst/>
          </a:prstGeom>
          <a:noFill/>
        </p:spPr>
        <p:txBody>
          <a:bodyPr wrap="square">
            <a:spAutoFit/>
          </a:bodyPr>
          <a:lstStyle/>
          <a:p>
            <a:pPr algn="ctr">
              <a:defRPr sz="800" b="0" i="0">
                <a:solidFill>
                  <a:srgbClr val="9A9A9E"/>
                </a:solidFill>
                <a:latin typeface="Caveat"/>
              </a:defRPr>
            </a:pPr>
            <a:r>
              <a:t>May 4</a:t>
            </a:r>
          </a:p>
        </p:txBody>
      </p:sp>
      <p:sp>
        <p:nvSpPr>
          <p:cNvPr id="57" name="Oval 56"/>
          <p:cNvSpPr/>
          <p:nvPr/>
        </p:nvSpPr>
        <p:spPr>
          <a:xfrm>
            <a:off x="6263640" y="5440680"/>
            <a:ext cx="182880" cy="182880"/>
          </a:xfrm>
          <a:prstGeom prst="ellipse">
            <a:avLst/>
          </a:prstGeom>
          <a:solidFill>
            <a:srgbClr val="FAFAF8"/>
          </a:solid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43600" y="5230368"/>
            <a:ext cx="1097280" cy="201168"/>
          </a:xfrm>
          <a:prstGeom prst="rect">
            <a:avLst/>
          </a:prstGeom>
          <a:noFill/>
        </p:spPr>
        <p:txBody>
          <a:bodyPr wrap="square">
            <a:spAutoFit/>
          </a:bodyPr>
          <a:lstStyle/>
          <a:p>
            <a:pPr algn="ctr">
              <a:defRPr sz="1100" b="1" i="0">
                <a:solidFill>
                  <a:srgbClr val="1A1A1A"/>
                </a:solidFill>
                <a:latin typeface="Caveat"/>
              </a:defRPr>
            </a:pPr>
            <a:r>
              <a:t>P3</a:t>
            </a:r>
          </a:p>
        </p:txBody>
      </p:sp>
      <p:sp>
        <p:nvSpPr>
          <p:cNvPr id="59" name="TextBox 58"/>
          <p:cNvSpPr txBox="1"/>
          <p:nvPr/>
        </p:nvSpPr>
        <p:spPr>
          <a:xfrm>
            <a:off x="5669280" y="5623560"/>
            <a:ext cx="1645920" cy="320040"/>
          </a:xfrm>
          <a:prstGeom prst="rect">
            <a:avLst/>
          </a:prstGeom>
          <a:noFill/>
        </p:spPr>
        <p:txBody>
          <a:bodyPr wrap="square">
            <a:spAutoFit/>
          </a:bodyPr>
          <a:lstStyle/>
          <a:p>
            <a:pPr algn="ctr">
              <a:defRPr sz="750" b="0" i="0">
                <a:solidFill>
                  <a:srgbClr val="4A4A4A"/>
                </a:solidFill>
                <a:latin typeface="Quicksand"/>
              </a:defRPr>
            </a:pPr>
            <a:r>
              <a:t>Building Phases Animations</a:t>
            </a:r>
          </a:p>
        </p:txBody>
      </p:sp>
      <p:sp>
        <p:nvSpPr>
          <p:cNvPr id="60" name="TextBox 59"/>
          <p:cNvSpPr txBox="1"/>
          <p:nvPr/>
        </p:nvSpPr>
        <p:spPr>
          <a:xfrm>
            <a:off x="5943600" y="5925312"/>
            <a:ext cx="1097280" cy="164592"/>
          </a:xfrm>
          <a:prstGeom prst="rect">
            <a:avLst/>
          </a:prstGeom>
          <a:noFill/>
        </p:spPr>
        <p:txBody>
          <a:bodyPr wrap="square">
            <a:spAutoFit/>
          </a:bodyPr>
          <a:lstStyle/>
          <a:p>
            <a:pPr algn="ctr">
              <a:defRPr sz="800" b="0" i="0">
                <a:solidFill>
                  <a:srgbClr val="9A9A9E"/>
                </a:solidFill>
                <a:latin typeface="Caveat"/>
              </a:defRPr>
            </a:pPr>
            <a:r>
              <a:t>May 11</a:t>
            </a:r>
          </a:p>
        </p:txBody>
      </p:sp>
      <p:sp>
        <p:nvSpPr>
          <p:cNvPr id="61" name="Oval 60"/>
          <p:cNvSpPr/>
          <p:nvPr/>
        </p:nvSpPr>
        <p:spPr>
          <a:xfrm>
            <a:off x="8549640" y="5440680"/>
            <a:ext cx="182880" cy="182880"/>
          </a:xfrm>
          <a:prstGeom prst="ellipse">
            <a:avLst/>
          </a:prstGeom>
          <a:solidFill>
            <a:srgbClr val="FAFAF8"/>
          </a:solid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600" y="5230368"/>
            <a:ext cx="1097280" cy="201168"/>
          </a:xfrm>
          <a:prstGeom prst="rect">
            <a:avLst/>
          </a:prstGeom>
          <a:noFill/>
        </p:spPr>
        <p:txBody>
          <a:bodyPr wrap="square">
            <a:spAutoFit/>
          </a:bodyPr>
          <a:lstStyle/>
          <a:p>
            <a:pPr algn="ctr">
              <a:defRPr sz="1100" b="1" i="0">
                <a:solidFill>
                  <a:srgbClr val="1A1A1A"/>
                </a:solidFill>
                <a:latin typeface="Caveat"/>
              </a:defRPr>
            </a:pPr>
            <a:r>
              <a:t>P4</a:t>
            </a:r>
          </a:p>
        </p:txBody>
      </p:sp>
      <p:sp>
        <p:nvSpPr>
          <p:cNvPr id="63" name="TextBox 62"/>
          <p:cNvSpPr txBox="1"/>
          <p:nvPr/>
        </p:nvSpPr>
        <p:spPr>
          <a:xfrm>
            <a:off x="7955279" y="5623560"/>
            <a:ext cx="1645920" cy="320040"/>
          </a:xfrm>
          <a:prstGeom prst="rect">
            <a:avLst/>
          </a:prstGeom>
          <a:noFill/>
        </p:spPr>
        <p:txBody>
          <a:bodyPr wrap="square">
            <a:spAutoFit/>
          </a:bodyPr>
          <a:lstStyle/>
          <a:p>
            <a:pPr algn="ctr">
              <a:defRPr sz="750" b="0" i="0">
                <a:solidFill>
                  <a:srgbClr val="4A4A4A"/>
                </a:solidFill>
                <a:latin typeface="Quicksand"/>
              </a:defRPr>
            </a:pPr>
            <a:r>
              <a:t>Cost + CO₂ Comparison</a:t>
            </a:r>
          </a:p>
        </p:txBody>
      </p:sp>
      <p:sp>
        <p:nvSpPr>
          <p:cNvPr id="64" name="TextBox 63"/>
          <p:cNvSpPr txBox="1"/>
          <p:nvPr/>
        </p:nvSpPr>
        <p:spPr>
          <a:xfrm>
            <a:off x="8229600" y="5925312"/>
            <a:ext cx="1097280" cy="164592"/>
          </a:xfrm>
          <a:prstGeom prst="rect">
            <a:avLst/>
          </a:prstGeom>
          <a:noFill/>
        </p:spPr>
        <p:txBody>
          <a:bodyPr wrap="square">
            <a:spAutoFit/>
          </a:bodyPr>
          <a:lstStyle/>
          <a:p>
            <a:pPr algn="ctr">
              <a:defRPr sz="800" b="0" i="0">
                <a:solidFill>
                  <a:srgbClr val="9A9A9E"/>
                </a:solidFill>
                <a:latin typeface="Caveat"/>
              </a:defRPr>
            </a:pPr>
            <a:r>
              <a:t>May 18</a:t>
            </a:r>
          </a:p>
        </p:txBody>
      </p:sp>
      <p:sp>
        <p:nvSpPr>
          <p:cNvPr id="65" name="Oval 64"/>
          <p:cNvSpPr/>
          <p:nvPr/>
        </p:nvSpPr>
        <p:spPr>
          <a:xfrm>
            <a:off x="10835640" y="5440680"/>
            <a:ext cx="182880" cy="182880"/>
          </a:xfrm>
          <a:prstGeom prst="ellipse">
            <a:avLst/>
          </a:prstGeom>
          <a:solidFill>
            <a:srgbClr val="FAFAF8"/>
          </a:solid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515600" y="5230368"/>
            <a:ext cx="1097280" cy="201168"/>
          </a:xfrm>
          <a:prstGeom prst="rect">
            <a:avLst/>
          </a:prstGeom>
          <a:noFill/>
        </p:spPr>
        <p:txBody>
          <a:bodyPr wrap="square">
            <a:spAutoFit/>
          </a:bodyPr>
          <a:lstStyle/>
          <a:p>
            <a:pPr algn="ctr">
              <a:defRPr sz="1100" b="1" i="0">
                <a:solidFill>
                  <a:srgbClr val="1A1A1A"/>
                </a:solidFill>
                <a:latin typeface="Caveat"/>
              </a:defRPr>
            </a:pPr>
            <a:r>
              <a:t>Finals</a:t>
            </a:r>
          </a:p>
        </p:txBody>
      </p:sp>
      <p:sp>
        <p:nvSpPr>
          <p:cNvPr id="67" name="TextBox 66"/>
          <p:cNvSpPr txBox="1"/>
          <p:nvPr/>
        </p:nvSpPr>
        <p:spPr>
          <a:xfrm>
            <a:off x="10241280" y="5623560"/>
            <a:ext cx="1645920" cy="320040"/>
          </a:xfrm>
          <a:prstGeom prst="rect">
            <a:avLst/>
          </a:prstGeom>
          <a:noFill/>
        </p:spPr>
        <p:txBody>
          <a:bodyPr wrap="square">
            <a:spAutoFit/>
          </a:bodyPr>
          <a:lstStyle/>
          <a:p>
            <a:pPr algn="ctr">
              <a:defRPr sz="750" b="0" i="0">
                <a:solidFill>
                  <a:srgbClr val="4A4A4A"/>
                </a:solidFill>
                <a:latin typeface="Quicksand"/>
              </a:defRPr>
            </a:pPr>
            <a:r>
              <a:t>Integration Testing + Demo</a:t>
            </a:r>
          </a:p>
        </p:txBody>
      </p:sp>
      <p:sp>
        <p:nvSpPr>
          <p:cNvPr id="68" name="TextBox 67"/>
          <p:cNvSpPr txBox="1"/>
          <p:nvPr/>
        </p:nvSpPr>
        <p:spPr>
          <a:xfrm>
            <a:off x="10515600" y="5925312"/>
            <a:ext cx="1097280" cy="164592"/>
          </a:xfrm>
          <a:prstGeom prst="rect">
            <a:avLst/>
          </a:prstGeom>
          <a:noFill/>
        </p:spPr>
        <p:txBody>
          <a:bodyPr wrap="square">
            <a:spAutoFit/>
          </a:bodyPr>
          <a:lstStyle/>
          <a:p>
            <a:pPr algn="ctr">
              <a:defRPr sz="800" b="0" i="0">
                <a:solidFill>
                  <a:srgbClr val="9A9A9E"/>
                </a:solidFill>
                <a:latin typeface="Caveat"/>
              </a:defRPr>
            </a:pPr>
            <a:r>
              <a:t>May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