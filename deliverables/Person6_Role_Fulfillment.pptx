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Hardware III — Person 6 Role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</a:rPr>
              <a:t>Data Research + Narrative Owner
Rafik El Khoury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Hardware III — IAAC MRAC/MAAI 2025/2026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What Is Hardware III?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Interactive table installation — visitors physically configure a small building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Overhead projector guides assembly through 5 construction phases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At the end: side-by-side LCA comparison of 3 construction methods + reclaimed brick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Tech stack: TouchDesigner FSM + Python/OpenCV (ArUco) + ESP32/RFID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Team of 7, IAAC MRAC + MAAI — finals May 22,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The political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Turn abstract construction data into embodied knowledge: you build the comparison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asymmetry in data confidence between methods IS the installation's core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Person 6 — My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Source LCA data for all 4 construction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Structure data as ranges with source tiers — no unsourced fixed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Write method descriptions and phase texts for visitor-facing projection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Define the comparison baseline (reclaimed brick)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4 CSV files in data/methods/ (one per method, phase × parameter × range × source)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methods_db.json — corrected and populated for TouchDesigner to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153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Method descriptions, 5 phase texts, final comparison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Research Foundation — What Was Already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7 deep-research strands completed using the earn-the-data discipline (docs/research_2/)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Each strand produced: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VALUES.md — phase × parameter × value_low/high × unit × assumption × source ×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SYNTHESIS.md — evidence convergence, methodology wobbles, geographic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BIBLIOGRAPHY.md — full citations, tier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The gap I found: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Research was complete but data had never been transferred into structured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data/methods/ directory was empty — 4 CSVs and methods_db.json were all placeholders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153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My job was not more research. It was translation: research docs → structured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Geographic Strategy — Catalonia ▸ Spain ▸ EU ▸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Locked in Phase 2 docs: use the most local source available, flag the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Tier 1 (Catalan/Spanish): BEDEC (ITeC), CYPE, Hispalyt EPDs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Tier 2 (Institutional/EU): European research, validated EPDs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951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Tier 3 (Vendor): Allowed only with a Tier 1/2 sibling 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Per-method geographic reality: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Masonry — strong Catalan data (Hispalyt, BEDEC, CYPE)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3D Printed — zero peer-reviewed Catalan LCA. Data: Qatar, Australia,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Prefab/CLT — no Spanish CLT mills. Data: Austrian/Swedish EPDs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153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Reclaimed Brick — no Catalan tier-1 LCA. Data: Finland, Switzerland, UK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99432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The geographic asymmetry between methods is not a flaw — it IS the argument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Method Finding: Masonry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C8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Traditional fired-clay brick, hand-laid on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5A1E"/>
                </a:solidFill>
              </a:rPr>
              <a:t>CO₂ (A1–A3 cradle-to-gate)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Structure: 32–75 kgCO₂e/m² wall — Hispalyt EPDs, 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Whole building: 205–490 kgCO₂e/m² GFA — sanity check vs Izaola 2023, De Wolf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5A1E"/>
                </a:solidFill>
              </a:rPr>
              <a:t>Labour &amp;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Labour: 22–34 h/m² — CYPE FEF010/FFZ010, 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Cost: 950–1,350 EUR/m² — CYPE + BEDEC, 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Time: 14–20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153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5A1E"/>
                </a:solidFill>
              </a:rP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99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Only method with genuine Catalan tier-1 data from physical Spanish kilns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BEDEC environmental column inherits Ecoinvent — not fully independent from Hispalyt EPDs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Method Finding: 3D Printed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Robotic concrete extrusion — structural walls only; all other phases are conventional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CO₂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Wall element: 44–90 kgCO₂e/m² wall — Mohammad 2020 (Qatar), 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Whole building: 58–147 kgCO₂e/m² GFA — Rossi 2024, Tier 1 (caveats: n=4)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3DP earth (cob): 12–25 kgCO₂e/m² wall — Alhumayani 2020, 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7 methodology wobbles documented: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Cement content (±45%), reinforcement boundary (+30%), functional unit (wall vs GFA)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Printer electricity, cob biogenic convention, durability assumption, geography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153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Critical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99432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No published LCA for any Catalan 3DP project. IAAC TOVA exists in Collserola — no LCA 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Data transfers from Qatar/Australia to Barcelona context with explicit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Method Finding: Prefab (Modular Concrete + CLT)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D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Two sub-methods: volumetric modular concrete and cross-laminated timber (CLT)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8A52"/>
                </a:solidFill>
              </a:rPr>
              <a:t>CLT CO₂ (A1–A3)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With biogenic carbon credit: 130–220 kgCO₂e/m² GFA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Without biogenic credit: 220–350 kgCO₂e/m² GFA  ← 30% swing on accounting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8A52"/>
                </a:solidFill>
              </a:rPr>
              <a:t>Modular concrete CO₂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280–569 kgCO₂e/m² GFA — Wei 2024 (Hong Kong typology), 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8A52"/>
                </a:solidFill>
              </a:rPr>
              <a:t>Catalonia-specific penalty most LCAs ignore: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CLT Austria→Barcelona ≈ 1,800–2,200 km road = adds 25–60 kgCO₂e/m² GFA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15384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1538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No Spanish CLT mills exist. No Spanish modular concrete primary LCA.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268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Data from Hong Kong, Austria, Sweden — flagged as EU proxy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Method Finding: Reclaimed Brick (Baseline)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Salvaged fired-clay brick, cleaned and relaid. Role: comparison BASELINE, not a competitor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2D20"/>
                </a:solidFill>
              </a:rPr>
              <a:t>The load-bearing finding — same wall, same bricks, 3 different accounting rules: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Cut-off (default):          8–25 kgCO₂e/m² GFA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Avoided-burden:            18–45 kgCO₂e/m² GFA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System-expansion (50/50): 35–70 kgCO₂e/m² GFA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That is a 5× swing. Every published LCA makes this choice without always saying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2D20"/>
                </a:solidFill>
              </a:rPr>
              <a:t>Labour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2–4× higher than new brick (cleaning + sorting + hand-fitting variable dimensions)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153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2D20"/>
                </a:solidFill>
              </a:rPr>
              <a:t>Geographic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99432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No Catalan tier-1 LCA. BEDEC has no reclaimed-brick entry as of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Data from Finland (Salmio &amp; Huuhka 2026), Switzerland (Re:Crete, K.118), UK (RBC EPD)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Files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1051560"/>
            <a:ext cx="27432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CSVs (data/methods/)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methods_db.json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masonry.csv — 25 rows, Tier 1 Catalan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3d-printed.csv — 33 rows, global + gap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prefab.csv — 38 rows, CLT +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reclaimed-brick.csv — 25 rows, 3 allocation siblings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Schema: phase, parameter, value_low,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  value_high, unit, assumption,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  source, source_tier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0682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All UNKNOWN cells marked explicitly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4 correct method names (was: Cantilever/Arch/Truss)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LCA summary fields per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408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co2_per_m2_range, labor_hours_range,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340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  time_range, cost_per_m2_range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source_label + geographic_tier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20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Link to CSV per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136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5 phase texts (Foundation→Finishing)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068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Final comparison insight (3 paragraphs)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00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⚠ RFID tags: placeholders — Person 7 must assign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Narrative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Tone decision (resolved with team)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Scientific, neutral, factual — not storytelling, not advocacy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Each description states what the method is, where the data comes from, key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951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Example — Masonry: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"Load-bearing fired-clay brick, hand-laid on site. Catalan tier-1 data: Hispalyt EPDs, BEDEC (ITeC), CYPE. CO₂: 205–490 kgCO₂e/m² GFA. Labour: 22–34 h/m²."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Example — 3D Printed: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"Robotic concrete extrusion. Structural walls only — foundation, roof, openings conventional. No published LCA for any Catalan project. Data from Qatar, Australia, US. CO₂: 58–147 kgCO₂e/m² GFA."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313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Phase texts (5 lines, one per construction phase)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153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Functional, consistent across methods — appear during PHASE_N states in the FSM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Is This a Strong Idea? —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Earn-the-data discipline: tiered sourcing, no unsourced fixed values, ranges throughout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11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Catalan-first geography: honest about what local data exists vs. what is a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5× reclaimed brick swing is intellectually honest and more interesting than a single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Data asymmetry between methods (masonry = real Catalan; 3DP = Qatar) IS the 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Methodology wobbles documented — the installation can show uncertainty, not false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CONCERNS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31336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313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May 22 = 12 days. CSVs just written — not yet tested in TouchDesigner.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42816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3 out of 4 methods have no Catalan primary LCA — honest, but will need clear UI flagging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54296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542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RFID tags still placeholder — hardware dependency on Person 7 before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65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Comparison view visual design not yet confirmed — data is ready; display is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33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Strong idea, methodologically serious. Risk is time, not quality of the argument.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Outstanding Flags (Not Person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36576"/>
          </a:xfrm>
          <a:prstGeom prst="rect">
            <a:avLst/>
          </a:prstGeom>
          <a:solidFill>
            <a:srgbClr val="2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For Person 7 (Hardware/Sensors):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27048"/>
            <a:ext cx="1097280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F00"/>
                </a:solidFill>
              </a:rPr>
              <a:t>⚠  RFID tag IDs in methods_db.json are placeholders — read physical tags, update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For the team (integration):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Switch working branch to master — all Person 6 files are on treethreetree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Test CSV reads in TouchDesigner before May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For the projection design: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Methodology wobble overlay must surface: allocation rule for reclaimed brick,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  biogenic carbon toggle for CLT, geographic source disclosure for 3DP and prefab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428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EC8"/>
                </a:solidFill>
              </a:rPr>
              <a:t>For Person 6 (if time allows):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268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Strand 07 (Spanish/Catalan superpowers) was still running — check if outputs added anything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Consider a SOURCES.md in data/ listing all 9 attribution corrections from data-inventory.md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